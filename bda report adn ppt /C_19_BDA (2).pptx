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72" r:id="rId25"/>
    <p:sldId id="27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1271F3-23A1-12FD-1336-DB78F2E6BEAF}" v="24" dt="2026-03-10T07:24:02.220"/>
    <p1510:client id="{34BF1918-40B5-D65C-4932-CF515357910E}" v="3" dt="2026-03-09T23:31:35.029"/>
    <p1510:client id="{370054B2-5C8A-D4E3-EB86-61E37FE77EF0}" v="327" dt="2026-03-10T08:48:09.382"/>
    <p1510:client id="{396FE457-A204-DD28-8ACE-B525786B94C4}" v="50" dt="2026-03-10T18:53:35.743"/>
    <p1510:client id="{A70D0B7B-7301-8FDF-32FD-EDC4C9DA3E9D}" v="51" dt="2026-03-09T17:02:58.829"/>
    <p1510:client id="{CF6CC4FF-5F5A-C7A7-C94C-D641E726DB8E}" v="58" dt="2026-03-10T08:56:19.7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BB916-9D14-5784-C1F8-DC97886E1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CD0C95-06BD-8E54-44DD-EFDE9A0D4D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9599D-7CFF-D908-4BC4-E8BA37D87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4C0D2-0E98-4D60-B477-6402FD865C26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988F2-AD2A-15F8-3C5F-9EBA4F103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4D8CE-0E6A-30A3-BE5A-94A9ED182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15EB-4B5A-4352-BCBB-E9F1881AE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509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0848B-FA7A-6405-C644-4D155220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72190-D0B5-0A6C-6D63-6093F5A1E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630EA-1486-91FE-6662-85B58159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4C0D2-0E98-4D60-B477-6402FD865C26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7123D-56DC-233B-CC0A-612448DC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A8CB2-67EB-A0FE-507D-A401C7741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15EB-4B5A-4352-BCBB-E9F1881AE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598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B25E0-9192-5F27-78EB-C18055A82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4A2D2-D183-7900-7885-13700EDBF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C24A6-453B-0080-0DBF-48BB942A9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4C0D2-0E98-4D60-B477-6402FD865C26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66EA5-A5C2-9B6A-3133-15FB47731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A00B0-003B-364D-85AB-FB45F804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15EB-4B5A-4352-BCBB-E9F1881AE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732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0438F-42CE-F927-F0D9-0C81FF30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4A877-DBA9-CEB4-0D53-13BE074CB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F78115-DC67-7289-C02A-95495928A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72E6B-C233-82BC-2E52-BFC00C517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4C0D2-0E98-4D60-B477-6402FD865C26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4F8E1-FE8C-A637-2378-EC3236C87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48027-E7E9-7B96-1957-349CC45DF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15EB-4B5A-4352-BCBB-E9F1881AE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774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EE0C4-93A0-26B4-322A-F75D8C124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0F7F0-5B0C-8467-FA08-C16DE074E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10868-5419-9F64-2A27-091C4EEB3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C06177-4B5D-A542-3DBA-334834A9CB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04A9C-62FE-49DA-F414-14758767B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9C7A45-A9AB-C3B6-7F96-863E07B8C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4C0D2-0E98-4D60-B477-6402FD865C26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D9DCF1-B263-136A-F310-1EE54B481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4C2C8F-EF46-CE23-AA6D-0B857C060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15EB-4B5A-4352-BCBB-E9F1881AE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540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25CC-A3D6-B79F-0EB5-89BDE5A4B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18022C-2784-6757-CA71-F564D6B25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4C0D2-0E98-4D60-B477-6402FD865C26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A54594-420E-45AF-6283-0FDEF20D8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5A42FA-0418-5CF3-BA08-68C06FF2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15EB-4B5A-4352-BCBB-E9F1881AE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98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808818-AA51-DA56-FD01-415EE93A4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4C0D2-0E98-4D60-B477-6402FD865C26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7BD468-599B-51CC-1592-5CB485B26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F390D-091C-4908-5741-05F0394F7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15EB-4B5A-4352-BCBB-E9F1881AE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800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D5A4E-7D81-DEF5-C2AA-902578E56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D1AB6-9F22-740E-B727-4D1F43339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A416CE-B583-D785-8C6E-504770EBC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FAFB2-093B-202B-46BF-154B490D0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4C0D2-0E98-4D60-B477-6402FD865C26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9A4D4-F245-D964-70CA-964CBDA2E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EC66D-B804-047C-6CE1-CE5BFDB2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15EB-4B5A-4352-BCBB-E9F1881AE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330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5234-A1B1-599B-DA74-7336A0A0D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F760B6-66AD-EF30-FD78-133A764648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F98AEA-4A7B-2C4F-3990-D6A5688C9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7D68F-2DE3-B95D-F276-6E2025E22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4C0D2-0E98-4D60-B477-6402FD865C26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C66CD-462A-FCD8-6171-D4FA2B26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A58BC-38B6-D763-9DA1-E5E1BB3DD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15EB-4B5A-4352-BCBB-E9F1881AE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193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F0CE3-355E-4F24-A0D5-3741BC760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A4FF3-9F1A-6619-E888-CB07CDB8E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D99D0-6759-25C8-2B56-D55F6467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4C0D2-0E98-4D60-B477-6402FD865C26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1776B-5D1F-3CF9-451F-62AA6B968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21533-A6D2-78A0-B350-9342A3D1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15EB-4B5A-4352-BCBB-E9F1881AE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176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8E504D-568D-0CE6-6069-7C936F567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0904CE-4428-0D2A-C1A2-E779B2199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F87B6-153B-A6B6-4C76-4F53C7907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4C0D2-0E98-4D60-B477-6402FD865C26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F1351-D734-6DD4-568D-C7E1C06B1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6B325-7A3E-FD7E-90E6-F603D96BB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15EB-4B5A-4352-BCBB-E9F1881AE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903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5C25C1-1155-B511-2EE4-EE89AD966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03A48-75BE-EA34-FF1E-EA35B8CE8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E669B-A35B-9ED0-861F-405663E6A0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B4C0D2-0E98-4D60-B477-6402FD865C26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3CBF3-F232-B7C0-F4F6-B62787986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F0A8A-C77F-F841-4EAB-04B1B704D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315EB-4B5A-4352-BCBB-E9F1881AE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70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3FECB-370C-47DF-B43B-8148FB432C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err="1">
                <a:latin typeface="Times New Roman"/>
                <a:ea typeface="+mj-lt"/>
                <a:cs typeface="Times New Roman"/>
              </a:rPr>
              <a:t>GreenCluster</a:t>
            </a:r>
            <a:r>
              <a:rPr lang="en-IN">
                <a:latin typeface="Times New Roman"/>
                <a:ea typeface="+mj-lt"/>
                <a:cs typeface="Times New Roman"/>
              </a:rPr>
              <a:t>: Carbon-Aware Workload Scheduling using Big Data Analytics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6EC67-C6E2-D388-02C3-6A9E4BEB1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968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>
                <a:latin typeface="Times New Roman"/>
                <a:ea typeface="+mn-lt"/>
                <a:cs typeface="Times New Roman"/>
              </a:rPr>
              <a:t>Team Members</a:t>
            </a:r>
          </a:p>
          <a:p>
            <a:r>
              <a:rPr lang="en-IN" err="1">
                <a:latin typeface="Times New Roman"/>
                <a:ea typeface="+mn-lt"/>
                <a:cs typeface="Times New Roman"/>
              </a:rPr>
              <a:t>RaswanthKrishna</a:t>
            </a:r>
            <a:r>
              <a:rPr lang="en-IN">
                <a:latin typeface="Times New Roman"/>
                <a:ea typeface="+mn-lt"/>
                <a:cs typeface="Times New Roman"/>
              </a:rPr>
              <a:t> M (CB.SC.U4AIE23266)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r>
              <a:rPr lang="en-IN" err="1">
                <a:latin typeface="Times New Roman"/>
                <a:ea typeface="+mn-lt"/>
                <a:cs typeface="Times New Roman"/>
              </a:rPr>
              <a:t>Mounindra</a:t>
            </a:r>
            <a:r>
              <a:rPr lang="en-IN">
                <a:latin typeface="Times New Roman"/>
                <a:ea typeface="+mn-lt"/>
                <a:cs typeface="Times New Roman"/>
              </a:rPr>
              <a:t> </a:t>
            </a:r>
            <a:r>
              <a:rPr lang="en-IN" err="1">
                <a:latin typeface="Times New Roman"/>
                <a:ea typeface="+mn-lt"/>
                <a:cs typeface="Times New Roman"/>
              </a:rPr>
              <a:t>Pullepu</a:t>
            </a:r>
            <a:r>
              <a:rPr lang="en-IN">
                <a:latin typeface="Times New Roman"/>
                <a:ea typeface="+mn-lt"/>
                <a:cs typeface="Times New Roman"/>
              </a:rPr>
              <a:t> (CB.SC.U4AIE23273)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r>
              <a:rPr lang="en-IN" err="1">
                <a:latin typeface="Times New Roman"/>
                <a:ea typeface="+mn-lt"/>
                <a:cs typeface="Times New Roman"/>
              </a:rPr>
              <a:t>Hamsadhuvani</a:t>
            </a:r>
            <a:r>
              <a:rPr lang="en-IN">
                <a:latin typeface="Times New Roman"/>
                <a:ea typeface="+mn-lt"/>
                <a:cs typeface="Times New Roman"/>
              </a:rPr>
              <a:t> JS (CB.SC.U4AIE23229)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r>
              <a:rPr lang="en-IN">
                <a:latin typeface="Times New Roman"/>
                <a:ea typeface="+mn-lt"/>
                <a:cs typeface="Times New Roman"/>
              </a:rPr>
              <a:t>Vaishnavi JSS (CB.SC.U4AIE23261)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5794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53C811-02D0-06BA-E18B-37BD1D245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  <a:latin typeface="Times New Roman"/>
                <a:cs typeface="Times New Roman"/>
              </a:rPr>
              <a:t>INTRODUCTION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F9BA2-41B6-217E-46AB-FEE52E87A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930084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000">
                <a:latin typeface="Times New Roman"/>
                <a:ea typeface="+mn-lt"/>
                <a:cs typeface="Times New Roman"/>
              </a:rPr>
              <a:t>Modern data centers process millions of workloads every day and consume large amounts of electrical energy. This leads to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high operational costs and significant carbon emissions</a:t>
            </a:r>
            <a:r>
              <a:rPr lang="en-US" sz="2000">
                <a:latin typeface="Times New Roman"/>
                <a:ea typeface="+mn-lt"/>
                <a:cs typeface="Times New Roman"/>
              </a:rPr>
              <a:t>. Data center telemetry generates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massive volumes of monitoring data</a:t>
            </a:r>
            <a:r>
              <a:rPr lang="en-US" sz="2000">
                <a:latin typeface="Times New Roman"/>
                <a:ea typeface="+mn-lt"/>
                <a:cs typeface="Times New Roman"/>
              </a:rPr>
              <a:t>, including CPU usage, memory utilization, and network activity across thousands of machines. Analyzing this large-scale data using traditional tools is difficult. Big Data Analytics enables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efficient processing of large telemetry </a:t>
            </a:r>
            <a:r>
              <a:rPr lang="en-US" sz="1900" b="1">
                <a:latin typeface="Times New Roman"/>
                <a:ea typeface="+mn-lt"/>
                <a:cs typeface="Times New Roman"/>
              </a:rPr>
              <a:t>datasets</a:t>
            </a:r>
            <a:r>
              <a:rPr lang="en-US" sz="2000">
                <a:latin typeface="Times New Roman"/>
                <a:ea typeface="+mn-lt"/>
                <a:cs typeface="Times New Roman"/>
              </a:rPr>
              <a:t> and helps extract useful insights for improving system efficiency.</a:t>
            </a:r>
          </a:p>
          <a:p>
            <a:pPr marL="0" indent="0">
              <a:buNone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In this project: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Large-scale cluster telemetry data is analyzed using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Apache Spark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Workload patterns are studied through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time-series analysis and machine learning models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A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carbon-aware scheduling strategy</a:t>
            </a:r>
            <a:r>
              <a:rPr lang="en-US" sz="2000">
                <a:latin typeface="Times New Roman"/>
                <a:ea typeface="+mn-lt"/>
                <a:cs typeface="Times New Roman"/>
              </a:rPr>
              <a:t> is developed to run workloads during lower carbon intensity periods.</a:t>
            </a:r>
            <a:endParaRPr lang="en-US" sz="2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Goal:</a:t>
            </a:r>
            <a:br>
              <a:rPr lang="en-US" sz="2000" b="1">
                <a:latin typeface="Times New Roman"/>
                <a:ea typeface="+mn-lt"/>
                <a:cs typeface="Times New Roman"/>
              </a:rPr>
            </a:br>
            <a:r>
              <a:rPr lang="en-US" sz="2000" b="1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>
                <a:latin typeface="Times New Roman"/>
                <a:ea typeface="+mn-lt"/>
                <a:cs typeface="Times New Roman"/>
              </a:rPr>
              <a:t>Improve energy efficiency in data centers by optimizing workload scheduling based on carbon intensity predictions.</a:t>
            </a:r>
            <a:endParaRPr lang="en-US" sz="2000">
              <a:latin typeface="Times New Roman"/>
              <a:cs typeface="Times New Roman"/>
            </a:endParaRPr>
          </a:p>
          <a:p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83796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8E38E7-1F72-06E3-57D7-51EF8AF03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4C747-157F-8F57-F574-57E4C69B3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latin typeface="Times New Roman"/>
                <a:ea typeface="+mn-lt"/>
                <a:cs typeface="Times New Roman"/>
              </a:rPr>
              <a:t>Modern data centers generate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massive volumes of telemetry data</a:t>
            </a:r>
            <a:r>
              <a:rPr lang="en-US" sz="2000">
                <a:latin typeface="Times New Roman"/>
                <a:ea typeface="+mn-lt"/>
                <a:cs typeface="Times New Roman"/>
              </a:rPr>
              <a:t> from thousands of machines, including CPU usage, memory utilization, and network activity. Managing and analyzing this large-scale data efficiently is a major challenge.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Traditional data processing tools struggle to handle such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high-volume and high-frequency monitoring data</a:t>
            </a:r>
            <a:r>
              <a:rPr lang="en-US" sz="2000">
                <a:latin typeface="Times New Roman"/>
                <a:ea typeface="+mn-lt"/>
                <a:cs typeface="Times New Roman"/>
              </a:rPr>
              <a:t>, making it difficult to extract meaningful insights in real time.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At the same time, data centers contribute significantly to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energy consumption and carbon emissions</a:t>
            </a:r>
            <a:r>
              <a:rPr lang="en-US" sz="2000">
                <a:latin typeface="Times New Roman"/>
                <a:ea typeface="+mn-lt"/>
                <a:cs typeface="Times New Roman"/>
              </a:rPr>
              <a:t>. Current workload scheduling strategies often ignore variations in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carbon intensity of electricity</a:t>
            </a:r>
            <a:r>
              <a:rPr lang="en-US" sz="2000">
                <a:latin typeface="Times New Roman"/>
                <a:ea typeface="+mn-lt"/>
                <a:cs typeface="Times New Roman"/>
              </a:rPr>
              <a:t>, leading to inefficient energy usage.</a:t>
            </a:r>
            <a:endParaRPr lang="en-US" sz="2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Therefore, the problem is: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To develop a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scalable big data analytics pipeline</a:t>
            </a:r>
            <a:r>
              <a:rPr lang="en-US" sz="2000">
                <a:latin typeface="Times New Roman"/>
                <a:ea typeface="+mn-lt"/>
                <a:cs typeface="Times New Roman"/>
              </a:rPr>
              <a:t> that can process large-scale cluster telemetry data and enable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carbon-aware workload scheduling</a:t>
            </a:r>
            <a:r>
              <a:rPr lang="en-US" sz="2000">
                <a:latin typeface="Times New Roman"/>
                <a:ea typeface="+mn-lt"/>
                <a:cs typeface="Times New Roman"/>
              </a:rPr>
              <a:t> to reduce overall emissions while maintaining system performance.</a:t>
            </a:r>
            <a:endParaRPr lang="en-US" sz="2000">
              <a:latin typeface="Times New Roman"/>
              <a:cs typeface="Times New Roman"/>
            </a:endParaRPr>
          </a:p>
          <a:p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2282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FC076-EDA1-7545-B1E0-82273FD7F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cs typeface="Times New Roman"/>
              </a:rPr>
              <a:t>Objective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4A315-114A-FBE0-6B8B-7D84C6B31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200">
                <a:latin typeface="Times New Roman"/>
                <a:ea typeface="+mn-lt"/>
                <a:cs typeface="Times New Roman"/>
              </a:rPr>
              <a:t>• Process large-scale data center telemetry data containing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95 million records</a:t>
            </a:r>
            <a:r>
              <a:rPr lang="en-US" sz="2200">
                <a:latin typeface="Times New Roman"/>
                <a:ea typeface="+mn-lt"/>
                <a:cs typeface="Times New Roman"/>
              </a:rPr>
              <a:t> using a scalable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Big Data Analytics pipeline</a:t>
            </a:r>
            <a:r>
              <a:rPr lang="en-US" sz="2200">
                <a:latin typeface="Times New Roman"/>
                <a:ea typeface="+mn-lt"/>
                <a:cs typeface="Times New Roman"/>
              </a:rPr>
              <a:t>.</a:t>
            </a:r>
          </a:p>
          <a:p>
            <a:pPr>
              <a:buNone/>
            </a:pPr>
            <a:r>
              <a:rPr lang="en-US" sz="2200">
                <a:latin typeface="Times New Roman"/>
                <a:ea typeface="+mn-lt"/>
                <a:cs typeface="Times New Roman"/>
              </a:rPr>
              <a:t>• Perform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data cleaning, aggregation, and feature engineering</a:t>
            </a:r>
            <a:r>
              <a:rPr lang="en-US" sz="2200">
                <a:latin typeface="Times New Roman"/>
                <a:ea typeface="+mn-lt"/>
                <a:cs typeface="Times New Roman"/>
              </a:rPr>
              <a:t> using distributed processing with Apache Spark.</a:t>
            </a:r>
          </a:p>
          <a:p>
            <a:pPr>
              <a:buNone/>
            </a:pPr>
            <a:r>
              <a:rPr lang="en-US" sz="2200">
                <a:latin typeface="Times New Roman"/>
                <a:ea typeface="+mn-lt"/>
                <a:cs typeface="Times New Roman"/>
              </a:rPr>
              <a:t>• Analyze workload patterns through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time-series analysis and statistical methods</a:t>
            </a:r>
            <a:r>
              <a:rPr lang="en-US" sz="2200">
                <a:latin typeface="Times New Roman"/>
                <a:ea typeface="+mn-lt"/>
                <a:cs typeface="Times New Roman"/>
              </a:rPr>
              <a:t>.</a:t>
            </a:r>
          </a:p>
          <a:p>
            <a:pPr>
              <a:buNone/>
            </a:pPr>
            <a:r>
              <a:rPr lang="en-US" sz="2200">
                <a:latin typeface="Times New Roman"/>
                <a:ea typeface="+mn-lt"/>
                <a:cs typeface="Times New Roman"/>
              </a:rPr>
              <a:t>• Forecast system workload behavior to understand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future resource utilization trends</a:t>
            </a:r>
            <a:r>
              <a:rPr lang="en-US" sz="2200">
                <a:latin typeface="Times New Roman"/>
                <a:ea typeface="+mn-lt"/>
                <a:cs typeface="Times New Roman"/>
              </a:rPr>
              <a:t>.</a:t>
            </a:r>
          </a:p>
          <a:p>
            <a:pPr>
              <a:buNone/>
            </a:pPr>
            <a:r>
              <a:rPr lang="en-US" sz="2200">
                <a:latin typeface="Times New Roman"/>
                <a:ea typeface="+mn-lt"/>
                <a:cs typeface="Times New Roman"/>
              </a:rPr>
              <a:t>• Develop a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carbon-aware scheduling strategy</a:t>
            </a:r>
            <a:r>
              <a:rPr lang="en-US" sz="2200">
                <a:latin typeface="Times New Roman"/>
                <a:ea typeface="+mn-lt"/>
                <a:cs typeface="Times New Roman"/>
              </a:rPr>
              <a:t> that selects execution windows with lower carbon intensity.</a:t>
            </a:r>
          </a:p>
          <a:p>
            <a:pPr>
              <a:buNone/>
            </a:pPr>
            <a:r>
              <a:rPr lang="en-US" sz="2200">
                <a:latin typeface="Times New Roman"/>
                <a:ea typeface="+mn-lt"/>
                <a:cs typeface="Times New Roman"/>
              </a:rPr>
              <a:t>• Reduce overall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carbon emissions and improve energy efficiency</a:t>
            </a:r>
            <a:r>
              <a:rPr lang="en-US" sz="2200">
                <a:latin typeface="Times New Roman"/>
                <a:ea typeface="+mn-lt"/>
                <a:cs typeface="Times New Roman"/>
              </a:rPr>
              <a:t> in data center operations.</a:t>
            </a:r>
          </a:p>
          <a:p>
            <a:pPr marL="0" indent="0">
              <a:buNone/>
            </a:pPr>
            <a:endParaRPr lang="en-US" sz="2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4803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F024-1F63-23F3-7676-7F88296D0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33D9-6B6B-9214-CBC3-976D6C632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latin typeface="Times New Roman"/>
                <a:ea typeface="+mn-lt"/>
                <a:cs typeface="Times New Roman"/>
              </a:rPr>
              <a:t>Dataset Name: Alibaba Cluster Trace Dataset (2018)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This dataset contains large-scale telemetry data collected from production data centers and provides detailed information about machine resource utilization.</a:t>
            </a:r>
            <a:endParaRPr lang="en-US" sz="2400">
              <a:latin typeface="Times New Roman"/>
              <a:cs typeface="Times New Roman"/>
            </a:endParaRPr>
          </a:p>
          <a:p>
            <a:endParaRPr lang="en-US" sz="2400">
              <a:latin typeface="Times New Roman"/>
              <a:cs typeface="Times New Rom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3CACBF-AE6C-DC7D-3B16-9E3BD73804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900583"/>
              </p:ext>
            </p:extLst>
          </p:nvPr>
        </p:nvGraphicFramePr>
        <p:xfrm>
          <a:off x="835068" y="3183698"/>
          <a:ext cx="10258076" cy="257275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5129038">
                  <a:extLst>
                    <a:ext uri="{9D8B030D-6E8A-4147-A177-3AD203B41FA5}">
                      <a16:colId xmlns:a16="http://schemas.microsoft.com/office/drawing/2014/main" val="2951124747"/>
                    </a:ext>
                  </a:extLst>
                </a:gridCol>
                <a:gridCol w="5129038">
                  <a:extLst>
                    <a:ext uri="{9D8B030D-6E8A-4147-A177-3AD203B41FA5}">
                      <a16:colId xmlns:a16="http://schemas.microsoft.com/office/drawing/2014/main" val="20380082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63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~95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766000"/>
                  </a:ext>
                </a:extLst>
              </a:tr>
              <a:tr h="378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 Machines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4,023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084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Monitoring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 Days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6084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Sampling Interval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Every 5 Minutes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781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File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~3.4 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4107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Number of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221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3731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863AC0-5043-15F6-461F-B681D89A0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cs typeface="Times New Roman"/>
              </a:rPr>
              <a:t>Dataset Overview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25CD5-8033-9351-4219-6B1D1E38E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200" b="1">
                <a:latin typeface="Times New Roman"/>
                <a:ea typeface="+mn-lt"/>
                <a:cs typeface="Times New Roman"/>
              </a:rPr>
              <a:t>Main Features in Dataset</a:t>
            </a:r>
            <a:endParaRPr lang="en-US" sz="2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200">
                <a:latin typeface="Times New Roman"/>
                <a:ea typeface="+mn-lt"/>
                <a:cs typeface="Times New Roman"/>
              </a:rPr>
              <a:t>• </a:t>
            </a:r>
            <a:r>
              <a:rPr lang="en-US" sz="2200">
                <a:latin typeface="Times New Roman"/>
                <a:cs typeface="Times New Roman"/>
              </a:rPr>
              <a:t>machine_id</a:t>
            </a:r>
            <a:r>
              <a:rPr lang="en-US" sz="2200">
                <a:latin typeface="Times New Roman"/>
                <a:ea typeface="+mn-lt"/>
                <a:cs typeface="Times New Roman"/>
              </a:rPr>
              <a:t> – Unique identifier for each machine</a:t>
            </a:r>
            <a:br>
              <a:rPr lang="en-US" sz="2200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 • </a:t>
            </a:r>
            <a:r>
              <a:rPr lang="en-US" sz="2200">
                <a:latin typeface="Times New Roman"/>
                <a:cs typeface="Times New Roman"/>
              </a:rPr>
              <a:t>time_stamp</a:t>
            </a:r>
            <a:r>
              <a:rPr lang="en-US" sz="2200">
                <a:latin typeface="Times New Roman"/>
                <a:ea typeface="+mn-lt"/>
                <a:cs typeface="Times New Roman"/>
              </a:rPr>
              <a:t> – Time at which the metrics were recorded</a:t>
            </a:r>
            <a:br>
              <a:rPr lang="en-US" sz="2200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 • </a:t>
            </a:r>
            <a:r>
              <a:rPr lang="en-US" sz="2200">
                <a:latin typeface="Times New Roman"/>
                <a:cs typeface="Times New Roman"/>
              </a:rPr>
              <a:t>cpu_util_percent</a:t>
            </a:r>
            <a:r>
              <a:rPr lang="en-US" sz="2200">
                <a:latin typeface="Times New Roman"/>
                <a:ea typeface="+mn-lt"/>
                <a:cs typeface="Times New Roman"/>
              </a:rPr>
              <a:t> – CPU utilization percentage</a:t>
            </a:r>
            <a:br>
              <a:rPr lang="en-US" sz="2200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 • </a:t>
            </a:r>
            <a:r>
              <a:rPr lang="en-US" sz="2200">
                <a:latin typeface="Times New Roman"/>
                <a:cs typeface="Times New Roman"/>
              </a:rPr>
              <a:t>mem_util_percent</a:t>
            </a:r>
            <a:r>
              <a:rPr lang="en-US" sz="2200">
                <a:latin typeface="Times New Roman"/>
                <a:ea typeface="+mn-lt"/>
                <a:cs typeface="Times New Roman"/>
              </a:rPr>
              <a:t> – Memory utilization percentage</a:t>
            </a:r>
            <a:br>
              <a:rPr lang="en-US" sz="2200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 • </a:t>
            </a:r>
            <a:r>
              <a:rPr lang="en-US" sz="2200">
                <a:latin typeface="Times New Roman"/>
                <a:cs typeface="Times New Roman"/>
              </a:rPr>
              <a:t>mem_gps</a:t>
            </a:r>
            <a:r>
              <a:rPr lang="en-US" sz="2200">
                <a:latin typeface="Times New Roman"/>
                <a:ea typeface="+mn-lt"/>
                <a:cs typeface="Times New Roman"/>
              </a:rPr>
              <a:t> – Memory usage in GB</a:t>
            </a:r>
            <a:br>
              <a:rPr lang="en-US" sz="2200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 • </a:t>
            </a:r>
            <a:r>
              <a:rPr lang="en-US" sz="2200">
                <a:latin typeface="Times New Roman"/>
                <a:cs typeface="Times New Roman"/>
              </a:rPr>
              <a:t>net_in</a:t>
            </a:r>
            <a:r>
              <a:rPr lang="en-US" sz="2200">
                <a:latin typeface="Times New Roman"/>
                <a:ea typeface="+mn-lt"/>
                <a:cs typeface="Times New Roman"/>
              </a:rPr>
              <a:t> – Incoming network traffic</a:t>
            </a:r>
            <a:br>
              <a:rPr lang="en-US" sz="2200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 • </a:t>
            </a:r>
            <a:r>
              <a:rPr lang="en-US" sz="2200">
                <a:latin typeface="Times New Roman"/>
                <a:cs typeface="Times New Roman"/>
              </a:rPr>
              <a:t>net_out</a:t>
            </a:r>
            <a:r>
              <a:rPr lang="en-US" sz="2200">
                <a:latin typeface="Times New Roman"/>
                <a:ea typeface="+mn-lt"/>
                <a:cs typeface="Times New Roman"/>
              </a:rPr>
              <a:t> – Outgoing network traffic</a:t>
            </a:r>
            <a:br>
              <a:rPr lang="en-US" sz="2200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 • </a:t>
            </a:r>
            <a:r>
              <a:rPr lang="en-US" sz="2200">
                <a:latin typeface="Times New Roman"/>
                <a:cs typeface="Times New Roman"/>
              </a:rPr>
              <a:t>disk_io_percent</a:t>
            </a:r>
            <a:r>
              <a:rPr lang="en-US" sz="2200">
                <a:latin typeface="Times New Roman"/>
                <a:ea typeface="+mn-lt"/>
                <a:cs typeface="Times New Roman"/>
              </a:rPr>
              <a:t> – Disk I/O utilization</a:t>
            </a:r>
            <a:br>
              <a:rPr lang="en-US" sz="2200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 • </a:t>
            </a:r>
            <a:r>
              <a:rPr lang="en-US" sz="2200">
                <a:latin typeface="Times New Roman"/>
                <a:cs typeface="Times New Roman"/>
              </a:rPr>
              <a:t>mkpi</a:t>
            </a:r>
            <a:r>
              <a:rPr lang="en-US" sz="2200">
                <a:latin typeface="Times New Roman"/>
                <a:ea typeface="+mn-lt"/>
                <a:cs typeface="Times New Roman"/>
              </a:rPr>
              <a:t> – Machine performance indicator</a:t>
            </a:r>
            <a:endParaRPr lang="en-US" sz="2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200" b="1">
                <a:latin typeface="Times New Roman"/>
                <a:ea typeface="+mn-lt"/>
                <a:cs typeface="Times New Roman"/>
              </a:rPr>
              <a:t>Purpose of Using This Dataset</a:t>
            </a:r>
            <a:endParaRPr lang="en-US" sz="2200">
              <a:latin typeface="Times New Roman"/>
              <a:cs typeface="Times New Roman"/>
            </a:endParaRPr>
          </a:p>
          <a:p>
            <a:r>
              <a:rPr lang="en-US" sz="2200">
                <a:latin typeface="Times New Roman"/>
                <a:ea typeface="+mn-lt"/>
                <a:cs typeface="Times New Roman"/>
              </a:rPr>
              <a:t>The dataset provides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real-world large-scale infrastructure telemetry</a:t>
            </a:r>
            <a:r>
              <a:rPr lang="en-US" sz="2200">
                <a:latin typeface="Times New Roman"/>
                <a:ea typeface="+mn-lt"/>
                <a:cs typeface="Times New Roman"/>
              </a:rPr>
              <a:t>, making it suitable for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big data analytics, workload forecasting, and carbon-aware scheduling analysis</a:t>
            </a:r>
            <a:r>
              <a:rPr lang="en-US" sz="2200">
                <a:latin typeface="Times New Roman"/>
                <a:ea typeface="+mn-lt"/>
                <a:cs typeface="Times New Roman"/>
              </a:rPr>
              <a:t>.</a:t>
            </a:r>
            <a:endParaRPr lang="en-US" sz="2200">
              <a:latin typeface="Times New Roman"/>
              <a:cs typeface="Times New Roman"/>
            </a:endParaRPr>
          </a:p>
          <a:p>
            <a:endParaRPr lang="en-US" sz="2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33642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05FC55-D822-05B9-B26C-555CDF49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244742"/>
            <a:ext cx="7015498" cy="12352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Literature Review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FEA929FC-B2FE-D0CE-CFE9-FB72BBC996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3848746"/>
              </p:ext>
            </p:extLst>
          </p:nvPr>
        </p:nvGraphicFramePr>
        <p:xfrm>
          <a:off x="761801" y="2533870"/>
          <a:ext cx="10668005" cy="3527296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792539">
                  <a:extLst>
                    <a:ext uri="{9D8B030D-6E8A-4147-A177-3AD203B41FA5}">
                      <a16:colId xmlns:a16="http://schemas.microsoft.com/office/drawing/2014/main" val="1258787906"/>
                    </a:ext>
                  </a:extLst>
                </a:gridCol>
                <a:gridCol w="1593151">
                  <a:extLst>
                    <a:ext uri="{9D8B030D-6E8A-4147-A177-3AD203B41FA5}">
                      <a16:colId xmlns:a16="http://schemas.microsoft.com/office/drawing/2014/main" val="1109180013"/>
                    </a:ext>
                  </a:extLst>
                </a:gridCol>
                <a:gridCol w="1495141">
                  <a:extLst>
                    <a:ext uri="{9D8B030D-6E8A-4147-A177-3AD203B41FA5}">
                      <a16:colId xmlns:a16="http://schemas.microsoft.com/office/drawing/2014/main" val="2282709592"/>
                    </a:ext>
                  </a:extLst>
                </a:gridCol>
                <a:gridCol w="1958716">
                  <a:extLst>
                    <a:ext uri="{9D8B030D-6E8A-4147-A177-3AD203B41FA5}">
                      <a16:colId xmlns:a16="http://schemas.microsoft.com/office/drawing/2014/main" val="2924817997"/>
                    </a:ext>
                  </a:extLst>
                </a:gridCol>
                <a:gridCol w="2447679">
                  <a:extLst>
                    <a:ext uri="{9D8B030D-6E8A-4147-A177-3AD203B41FA5}">
                      <a16:colId xmlns:a16="http://schemas.microsoft.com/office/drawing/2014/main" val="540126803"/>
                    </a:ext>
                  </a:extLst>
                </a:gridCol>
                <a:gridCol w="2380779">
                  <a:extLst>
                    <a:ext uri="{9D8B030D-6E8A-4147-A177-3AD203B41FA5}">
                      <a16:colId xmlns:a16="http://schemas.microsoft.com/office/drawing/2014/main" val="3781576404"/>
                    </a:ext>
                  </a:extLst>
                </a:gridCol>
              </a:tblGrid>
              <a:tr h="3095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cap="none" spc="0">
                          <a:solidFill>
                            <a:schemeClr val="bg1"/>
                          </a:solidFill>
                          <a:effectLst/>
                        </a:rPr>
                        <a:t>S.NO</a:t>
                      </a:r>
                    </a:p>
                  </a:txBody>
                  <a:tcPr marL="85021" marR="40876" marT="65401" marB="6540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cap="none" spc="0">
                          <a:solidFill>
                            <a:schemeClr val="bg1"/>
                          </a:solidFill>
                          <a:effectLst/>
                        </a:rPr>
                        <a:t>PAPER TITLE &amp; YEAR</a:t>
                      </a:r>
                    </a:p>
                  </a:txBody>
                  <a:tcPr marL="85021" marR="40876" marT="65401" marB="6540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cap="none" spc="0">
                          <a:solidFill>
                            <a:schemeClr val="bg1"/>
                          </a:solidFill>
                          <a:effectLst/>
                        </a:rPr>
                        <a:t>DATA USED</a:t>
                      </a:r>
                    </a:p>
                  </a:txBody>
                  <a:tcPr marL="85021" marR="40876" marT="65401" marB="6540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cap="none" spc="0">
                          <a:solidFill>
                            <a:schemeClr val="bg1"/>
                          </a:solidFill>
                          <a:effectLst/>
                        </a:rPr>
                        <a:t>TECHNIQUES USED</a:t>
                      </a:r>
                    </a:p>
                  </a:txBody>
                  <a:tcPr marL="85021" marR="40876" marT="65401" marB="6540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cap="none" spc="0">
                          <a:solidFill>
                            <a:schemeClr val="bg1"/>
                          </a:solidFill>
                          <a:effectLst/>
                        </a:rPr>
                        <a:t>KEY CONTRIBUTIONS</a:t>
                      </a:r>
                    </a:p>
                  </a:txBody>
                  <a:tcPr marL="85021" marR="40876" marT="65401" marB="6540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cap="none" spc="0">
                          <a:solidFill>
                            <a:schemeClr val="bg1"/>
                          </a:solidFill>
                          <a:effectLst/>
                        </a:rPr>
                        <a:t>LIMITATIONS</a:t>
                      </a:r>
                    </a:p>
                  </a:txBody>
                  <a:tcPr marL="85021" marR="40876" marT="65401" marB="6540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676737"/>
                  </a:ext>
                </a:extLst>
              </a:tr>
              <a:tr h="1072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85021" marR="40876" marT="65401" marB="6540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Carbon-Intelligent Computing for Datacenters + DRO Extension (Google 2025, Hall et al. 2021)</a:t>
                      </a:r>
                    </a:p>
                  </a:txBody>
                  <a:tcPr marL="85021" marR="40876" marT="65401" marB="6540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Google proprietary fleet data, historical daily load profiles, carbon intensity signals</a:t>
                      </a:r>
                    </a:p>
                  </a:txBody>
                  <a:tcPr marL="85021" marR="40876" marT="65401" marB="6540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Virtual Capacity Curves (VCC), Distributionally Robust Optimization (DRO), CVaR tail-risk constraints, Wasserstein ambiguity sets, Large-scale LP solver</a:t>
                      </a:r>
                    </a:p>
                  </a:txBody>
                  <a:tcPr marL="85021" marR="40876" marT="65401" marB="6540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Production-scale load shaping system that delays flexible workloads away from high-carbon-intensity hours; provides probabilistic performance guarantees via CVaR; deployed at Google-scale infrastructure</a:t>
                      </a:r>
                    </a:p>
                  </a:txBody>
                  <a:tcPr marL="85021" marR="40876" marT="65401" marB="6540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No explicit forecasting component exposed; aggregate-level optimization only (no per-machine analysis); proprietary/internal implementation not reproducible; requires infrastructure-level integration</a:t>
                      </a:r>
                    </a:p>
                  </a:txBody>
                  <a:tcPr marL="85021" marR="40876" marT="65401" marB="6540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593173"/>
                  </a:ext>
                </a:extLst>
              </a:tr>
              <a:tr h="1072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85021" marR="40876" marT="65401" marB="6540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Cloud Computing Load Prediction Method Based on CNN-BiLSTM Model Under Low-Carbon Background (Zhang et al., Scientific Reports 2024)</a:t>
                      </a:r>
                    </a:p>
                  </a:txBody>
                  <a:tcPr marL="85021" marR="40876" marT="65401" marB="6540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Google Cluster Trace 2011 (~12K machines, 0–20% CPU utilization range)</a:t>
                      </a:r>
                    </a:p>
                  </a:txBody>
                  <a:tcPr marL="85021" marR="40876" marT="65401" marB="6540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CNN for spatial feature extraction, BiLSTM for temporal sequence modeling, hybrid CNN-BiLSTM architecture, dynamic server power model for carbon conversion</a:t>
                      </a:r>
                    </a:p>
                  </a:txBody>
                  <a:tcPr marL="85021" marR="40876" marT="65401" marB="6540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Achieves 34–52% MSE reduction compared to BP, LSTM, and BiLSTM baselines; converts predicted CPU load to power consumption and carbon emissions via dynamic server power model</a:t>
                      </a:r>
                    </a:p>
                  </a:txBody>
                  <a:tcPr marL="85021" marR="40876" marT="65401" marB="6540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No uncertainty quantification on forecasts; predictions not connected to any scheduling decision; tested only on low-utilization dataset (0–20% CPU); no end-to-end pipeline integration</a:t>
                      </a:r>
                    </a:p>
                  </a:txBody>
                  <a:tcPr marL="85021" marR="40876" marT="65401" marB="6540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777958"/>
                  </a:ext>
                </a:extLst>
              </a:tr>
              <a:tr h="1072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85021" marR="40876" marT="65401" marB="6540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Dual-Splitting Conformal Prediction for Multi-Step Time Series Forecasting (Yu et al., Applied Soft Computing 2025)</a:t>
                      </a:r>
                    </a:p>
                  </a:txBody>
                  <a:tcPr marL="85021" marR="40876" marT="65401" marB="6540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Solar irradiance, sapflow, air quality, wind power datasets (non-datacenter)</a:t>
                      </a:r>
                    </a:p>
                  </a:txBody>
                  <a:tcPr marL="85021" marR="40876" marT="65401" marB="6540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DSCP with signed residuals for asymmetric bounds, k-means + soft-DTW vertical splitting, Kolmogorov-Smirnov tests for horizontal merging, LSTM as base predictor</a:t>
                      </a:r>
                    </a:p>
                  </a:txBody>
                  <a:tcPr marL="85021" marR="40876" marT="65401" marB="6540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23.6% Winkler Score improvement over baseline conformal methods; produces asymmetric prediction intervals; simulation case study shows 8–11% carbon reduction in data center optimization</a:t>
                      </a:r>
                    </a:p>
                  </a:txBody>
                  <a:tcPr marL="85021" marR="40876" marT="65401" marB="6540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High computational complexity (DTW clustering + K-S tests); scheduling is simulation-only (not real workloads); not validated on actual datacenter CPU traces; requires careful hyperparameter tuning</a:t>
                      </a:r>
                    </a:p>
                  </a:txBody>
                  <a:tcPr marL="85021" marR="40876" marT="65401" marB="6540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02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500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224AA-DB7A-4B2F-32BD-2EF7F990F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/>
              <a:t>Comparison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0663EC4-B758-A9A7-5FAB-F85431E760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3921613"/>
              </p:ext>
            </p:extLst>
          </p:nvPr>
        </p:nvGraphicFramePr>
        <p:xfrm>
          <a:off x="861788" y="1926266"/>
          <a:ext cx="10468427" cy="435752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0756">
                  <a:extLst>
                    <a:ext uri="{9D8B030D-6E8A-4147-A177-3AD203B41FA5}">
                      <a16:colId xmlns:a16="http://schemas.microsoft.com/office/drawing/2014/main" val="2432230640"/>
                    </a:ext>
                  </a:extLst>
                </a:gridCol>
                <a:gridCol w="2080756">
                  <a:extLst>
                    <a:ext uri="{9D8B030D-6E8A-4147-A177-3AD203B41FA5}">
                      <a16:colId xmlns:a16="http://schemas.microsoft.com/office/drawing/2014/main" val="3565860228"/>
                    </a:ext>
                  </a:extLst>
                </a:gridCol>
                <a:gridCol w="2080756">
                  <a:extLst>
                    <a:ext uri="{9D8B030D-6E8A-4147-A177-3AD203B41FA5}">
                      <a16:colId xmlns:a16="http://schemas.microsoft.com/office/drawing/2014/main" val="2288510257"/>
                    </a:ext>
                  </a:extLst>
                </a:gridCol>
                <a:gridCol w="2080756">
                  <a:extLst>
                    <a:ext uri="{9D8B030D-6E8A-4147-A177-3AD203B41FA5}">
                      <a16:colId xmlns:a16="http://schemas.microsoft.com/office/drawing/2014/main" val="522711887"/>
                    </a:ext>
                  </a:extLst>
                </a:gridCol>
                <a:gridCol w="2145403">
                  <a:extLst>
                    <a:ext uri="{9D8B030D-6E8A-4147-A177-3AD203B41FA5}">
                      <a16:colId xmlns:a16="http://schemas.microsoft.com/office/drawing/2014/main" val="471216893"/>
                    </a:ext>
                  </a:extLst>
                </a:gridCol>
              </a:tblGrid>
              <a:tr h="654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Dimension</a:t>
                      </a:r>
                    </a:p>
                  </a:txBody>
                  <a:tcPr marL="56542" marR="56542" marT="37695" marB="37695" anchor="ctr">
                    <a:lnL>
                      <a:noFill/>
                    </a:lnL>
                    <a:lnR w="7620" cap="flat" cmpd="sng" algn="ctr">
                      <a:solidFill>
                        <a:srgbClr val="606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606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Paper 1 (Google+DRO)</a:t>
                      </a: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606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9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E09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Paper 2 (CNN-BiLSTM)</a:t>
                      </a: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E09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9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E09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Paper 3 (DSCP)</a:t>
                      </a: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E09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8E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608E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CarbonDC (Ours)</a:t>
                      </a:r>
                      <a:endParaRPr lang="en-US" sz="1800">
                        <a:effectLst/>
                      </a:endParaRP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608E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6095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750492"/>
                  </a:ext>
                </a:extLst>
              </a:tr>
              <a:tr h="1197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Dataset</a:t>
                      </a:r>
                    </a:p>
                  </a:txBody>
                  <a:tcPr marL="56542" marR="56542" marT="37695" marB="37695" anchor="ctr">
                    <a:lnL>
                      <a:noFill/>
                    </a:lnL>
                    <a:lnR w="7620" cap="flat" cmpd="sng" algn="ctr">
                      <a:solidFill>
                        <a:srgbClr val="A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6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Google fleet (proprietary)</a:t>
                      </a: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A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A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9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A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Google Cluster 2011 (~12K machines)</a:t>
                      </a: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E0A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A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9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A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Solar, sapflow, air, wind</a:t>
                      </a: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60A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A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8E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A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Alibaba Cluster 2018 (4,023 machines, 95M rows)</a:t>
                      </a:r>
                      <a:endParaRPr lang="en-US" sz="1800">
                        <a:effectLst/>
                      </a:endParaRP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A0A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6095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A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284828"/>
                  </a:ext>
                </a:extLst>
              </a:tr>
              <a:tr h="654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CPU Utilization Range</a:t>
                      </a:r>
                    </a:p>
                  </a:txBody>
                  <a:tcPr marL="56542" marR="56542" marT="37695" marB="37695" anchor="ctr">
                    <a:lnL>
                      <a:noFill/>
                    </a:lnL>
                    <a:lnR w="7620" cap="flat" cmpd="sng" algn="ctr">
                      <a:solidFill>
                        <a:srgbClr val="A0A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A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Not reported</a:t>
                      </a: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A0A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B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A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B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0–20% (idle)</a:t>
                      </a: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60B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B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A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B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N/A</a:t>
                      </a: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A0B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B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A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B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25–60% (moderate-high)</a:t>
                      </a:r>
                      <a:endParaRPr lang="en-US" sz="1800">
                        <a:effectLst/>
                      </a:endParaRP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20B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A0A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435171"/>
                  </a:ext>
                </a:extLst>
              </a:tr>
              <a:tr h="1197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ETL Pipeline</a:t>
                      </a:r>
                    </a:p>
                  </a:txBody>
                  <a:tcPr marL="56542" marR="56542" marT="37695" marB="37695" anchor="ctr">
                    <a:lnL>
                      <a:noFill/>
                    </a:lnL>
                    <a:lnR w="7620" cap="flat" cmpd="sng" algn="ctr">
                      <a:solidFill>
                        <a:srgbClr val="20C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A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C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Internal/black-box</a:t>
                      </a: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20C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C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B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C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Basic pandas</a:t>
                      </a: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E0C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C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B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C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Minimal</a:t>
                      </a: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A0C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C4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B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C4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Spark distributed, 11.3× compression, Parquet</a:t>
                      </a:r>
                      <a:endParaRPr lang="en-US" sz="1800">
                        <a:effectLst/>
                      </a:endParaRP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20C4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A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C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220118"/>
                  </a:ext>
                </a:extLst>
              </a:tr>
              <a:tr h="654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Data Selection</a:t>
                      </a:r>
                    </a:p>
                  </a:txBody>
                  <a:tcPr marL="56542" marR="56542" marT="37695" marB="37695" anchor="ctr">
                    <a:lnL>
                      <a:noFill/>
                    </a:lnL>
                    <a:lnR w="7620" cap="flat" cmpd="sng" algn="ctr">
                      <a:solidFill>
                        <a:srgbClr val="60C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C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Not disclosed</a:t>
                      </a: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60C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D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C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Random</a:t>
                      </a: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20D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D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C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N/A</a:t>
                      </a: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E0D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D5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C4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Diversity-based (utilization spread)</a:t>
                      </a:r>
                      <a:endParaRPr lang="en-US" sz="1800">
                        <a:effectLst/>
                      </a:endParaRPr>
                    </a:p>
                  </a:txBody>
                  <a:tcPr marL="56542" marR="56542" marT="37695" marB="37695" anchor="ctr">
                    <a:lnL w="7620" cap="flat" cmpd="sng" algn="ctr">
                      <a:solidFill>
                        <a:srgbClr val="20D5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A0C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798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740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418B7-F4C4-3AD5-C44A-AC15B7D22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cs typeface="Times New Roman"/>
              </a:rPr>
              <a:t>Big data tools used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F064D-1390-F10B-D6AB-8E5CE0EDD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1900" b="1">
                <a:latin typeface="Times New Roman"/>
                <a:cs typeface="Times New Roman"/>
              </a:rPr>
              <a:t>1. Apache Spark: </a:t>
            </a:r>
            <a:r>
              <a:rPr lang="en-US" sz="1900">
                <a:latin typeface="Times New Roman"/>
                <a:cs typeface="Times New Roman"/>
              </a:rPr>
              <a:t>Apache</a:t>
            </a:r>
            <a:r>
              <a:rPr lang="en-US" sz="1900">
                <a:latin typeface="Times New Roman"/>
                <a:ea typeface="+mn-lt"/>
                <a:cs typeface="Times New Roman"/>
              </a:rPr>
              <a:t> Spark is a </a:t>
            </a:r>
            <a:r>
              <a:rPr lang="en-US" sz="1900" b="1">
                <a:latin typeface="Times New Roman"/>
                <a:ea typeface="+mn-lt"/>
                <a:cs typeface="Times New Roman"/>
              </a:rPr>
              <a:t>distributed data processing framework</a:t>
            </a:r>
            <a:r>
              <a:rPr lang="en-US" sz="1900">
                <a:latin typeface="Times New Roman"/>
                <a:ea typeface="+mn-lt"/>
                <a:cs typeface="Times New Roman"/>
              </a:rPr>
              <a:t> used to handle large-scale datasets efficiently.</a:t>
            </a:r>
            <a:endParaRPr lang="en-US" sz="19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900" b="1">
                <a:latin typeface="Times New Roman"/>
                <a:ea typeface="+mn-lt"/>
                <a:cs typeface="Times New Roman"/>
              </a:rPr>
              <a:t>Purpose in the project:</a:t>
            </a:r>
            <a:endParaRPr lang="en-US" sz="1900">
              <a:latin typeface="Times New Roman"/>
              <a:cs typeface="Times New Roman"/>
            </a:endParaRPr>
          </a:p>
          <a:p>
            <a:r>
              <a:rPr lang="en-US" sz="1900">
                <a:latin typeface="Times New Roman"/>
                <a:ea typeface="+mn-lt"/>
                <a:cs typeface="Times New Roman"/>
              </a:rPr>
              <a:t>Processing </a:t>
            </a:r>
            <a:r>
              <a:rPr lang="en-US" sz="1900" b="1">
                <a:latin typeface="Times New Roman"/>
                <a:ea typeface="+mn-lt"/>
                <a:cs typeface="Times New Roman"/>
              </a:rPr>
              <a:t>95 million telemetry records</a:t>
            </a:r>
            <a:endParaRPr lang="en-US" sz="1900">
              <a:latin typeface="Times New Roman"/>
              <a:cs typeface="Times New Roman"/>
            </a:endParaRPr>
          </a:p>
          <a:p>
            <a:r>
              <a:rPr lang="en-US" sz="1900">
                <a:latin typeface="Times New Roman"/>
                <a:ea typeface="+mn-lt"/>
                <a:cs typeface="Times New Roman"/>
              </a:rPr>
              <a:t>Performing </a:t>
            </a:r>
            <a:r>
              <a:rPr lang="en-US" sz="1900" b="1">
                <a:latin typeface="Times New Roman"/>
                <a:ea typeface="+mn-lt"/>
                <a:cs typeface="Times New Roman"/>
              </a:rPr>
              <a:t>distributed data cleaning and aggregation</a:t>
            </a:r>
            <a:endParaRPr lang="en-US" sz="1900">
              <a:latin typeface="Times New Roman"/>
              <a:cs typeface="Times New Roman"/>
            </a:endParaRPr>
          </a:p>
          <a:p>
            <a:r>
              <a:rPr lang="en-US" sz="1900">
                <a:latin typeface="Times New Roman"/>
                <a:ea typeface="+mn-lt"/>
                <a:cs typeface="Times New Roman"/>
              </a:rPr>
              <a:t>Enabling scalable analytics across multiple CPU cores</a:t>
            </a:r>
            <a:endParaRPr lang="en-US" sz="19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900" b="1">
                <a:latin typeface="Times New Roman"/>
                <a:ea typeface="+mn-lt"/>
                <a:cs typeface="Times New Roman"/>
              </a:rPr>
              <a:t>Key advantage:</a:t>
            </a:r>
            <a:br>
              <a:rPr lang="en-US" sz="1900" b="1">
                <a:latin typeface="Times New Roman"/>
                <a:ea typeface="+mn-lt"/>
                <a:cs typeface="Times New Roman"/>
              </a:rPr>
            </a:br>
            <a:r>
              <a:rPr lang="en-US" sz="1900" b="1">
                <a:latin typeface="Times New Roman"/>
                <a:ea typeface="+mn-lt"/>
                <a:cs typeface="Times New Roman"/>
              </a:rPr>
              <a:t> </a:t>
            </a:r>
            <a:r>
              <a:rPr lang="en-US" sz="1900">
                <a:latin typeface="Times New Roman"/>
                <a:ea typeface="+mn-lt"/>
                <a:cs typeface="Times New Roman"/>
              </a:rPr>
              <a:t>Faster processing due to in-memory distributed computation.</a:t>
            </a:r>
            <a:endParaRPr lang="en-US" sz="19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900" b="1">
                <a:latin typeface="Times New Roman"/>
                <a:cs typeface="Times New Roman"/>
              </a:rPr>
              <a:t>2. Spark SQL: </a:t>
            </a:r>
            <a:r>
              <a:rPr lang="en-US" sz="1900">
                <a:latin typeface="Times New Roman"/>
                <a:cs typeface="Times New Roman"/>
              </a:rPr>
              <a:t>Spark</a:t>
            </a:r>
            <a:r>
              <a:rPr lang="en-US" sz="1900">
                <a:latin typeface="Times New Roman"/>
                <a:ea typeface="+mn-lt"/>
                <a:cs typeface="Times New Roman"/>
              </a:rPr>
              <a:t> SQL provides a </a:t>
            </a:r>
            <a:r>
              <a:rPr lang="en-US" sz="1900" b="1">
                <a:latin typeface="Times New Roman"/>
                <a:ea typeface="+mn-lt"/>
                <a:cs typeface="Times New Roman"/>
              </a:rPr>
              <a:t>SQL interface for querying large datasets stored in Spark DataFrames</a:t>
            </a:r>
            <a:r>
              <a:rPr lang="en-US" sz="1900">
                <a:latin typeface="Times New Roman"/>
                <a:ea typeface="+mn-lt"/>
                <a:cs typeface="Times New Roman"/>
              </a:rPr>
              <a:t>.</a:t>
            </a:r>
            <a:endParaRPr lang="en-US" sz="19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900" b="1">
                <a:latin typeface="Times New Roman"/>
                <a:ea typeface="+mn-lt"/>
                <a:cs typeface="Times New Roman"/>
              </a:rPr>
              <a:t>Purpose in the project:</a:t>
            </a:r>
            <a:endParaRPr lang="en-US" sz="1900">
              <a:latin typeface="Times New Roman"/>
              <a:cs typeface="Times New Roman"/>
            </a:endParaRPr>
          </a:p>
          <a:p>
            <a:r>
              <a:rPr lang="en-US" sz="1900">
                <a:latin typeface="Times New Roman"/>
                <a:ea typeface="+mn-lt"/>
                <a:cs typeface="Times New Roman"/>
              </a:rPr>
              <a:t>Performing </a:t>
            </a:r>
            <a:r>
              <a:rPr lang="en-US" sz="1900" b="1">
                <a:latin typeface="Times New Roman"/>
                <a:ea typeface="+mn-lt"/>
                <a:cs typeface="Times New Roman"/>
              </a:rPr>
              <a:t>data analysis using SQL queries</a:t>
            </a:r>
            <a:endParaRPr lang="en-US" sz="1900">
              <a:latin typeface="Times New Roman"/>
              <a:cs typeface="Times New Roman"/>
            </a:endParaRPr>
          </a:p>
          <a:p>
            <a:r>
              <a:rPr lang="en-US" sz="1900">
                <a:latin typeface="Times New Roman"/>
                <a:ea typeface="+mn-lt"/>
                <a:cs typeface="Times New Roman"/>
              </a:rPr>
              <a:t>Implementing </a:t>
            </a:r>
            <a:r>
              <a:rPr lang="en-US" sz="1900" b="1">
                <a:latin typeface="Times New Roman"/>
                <a:ea typeface="+mn-lt"/>
                <a:cs typeface="Times New Roman"/>
              </a:rPr>
              <a:t>carbon-aware scheduling using window functions</a:t>
            </a:r>
            <a:endParaRPr lang="en-US" sz="1900">
              <a:latin typeface="Times New Roman"/>
              <a:cs typeface="Times New Roman"/>
            </a:endParaRPr>
          </a:p>
          <a:p>
            <a:r>
              <a:rPr lang="en-US" sz="1900">
                <a:latin typeface="Times New Roman"/>
                <a:ea typeface="+mn-lt"/>
                <a:cs typeface="Times New Roman"/>
              </a:rPr>
              <a:t>Efficiently joining workload data with carbon intensity data</a:t>
            </a:r>
            <a:endParaRPr lang="en-US" sz="19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900" b="1">
                <a:latin typeface="Times New Roman"/>
                <a:ea typeface="+mn-lt"/>
                <a:cs typeface="Times New Roman"/>
              </a:rPr>
              <a:t>Key advantage:</a:t>
            </a:r>
            <a:br>
              <a:rPr lang="en-US" sz="1900" b="1">
                <a:latin typeface="Times New Roman"/>
                <a:ea typeface="+mn-lt"/>
                <a:cs typeface="Times New Roman"/>
              </a:rPr>
            </a:br>
            <a:r>
              <a:rPr lang="en-US" sz="1900" b="1">
                <a:latin typeface="Times New Roman"/>
                <a:ea typeface="+mn-lt"/>
                <a:cs typeface="Times New Roman"/>
              </a:rPr>
              <a:t> </a:t>
            </a:r>
            <a:r>
              <a:rPr lang="en-US" sz="1900">
                <a:latin typeface="Times New Roman"/>
                <a:ea typeface="+mn-lt"/>
                <a:cs typeface="Times New Roman"/>
              </a:rPr>
              <a:t>Allows complex analytics using SQL syntax on large datasets.</a:t>
            </a:r>
            <a:endParaRPr lang="en-US" sz="1900">
              <a:latin typeface="Times New Roman"/>
              <a:cs typeface="Times New Roman"/>
            </a:endParaRPr>
          </a:p>
          <a:p>
            <a:endParaRPr lang="en-US" sz="19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6883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A6F5A-921D-2FDC-7265-26BD3551B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cs typeface="Times New Roman"/>
              </a:rPr>
              <a:t>Big data tools used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A9827-617D-2667-C6DF-0E567CAFD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1900" b="1">
                <a:latin typeface="Times New Roman"/>
                <a:cs typeface="Times New Roman"/>
              </a:rPr>
              <a:t>3. Spark </a:t>
            </a:r>
            <a:r>
              <a:rPr lang="en-US" sz="1900" b="1" err="1">
                <a:latin typeface="Times New Roman"/>
                <a:cs typeface="Times New Roman"/>
              </a:rPr>
              <a:t>MLlib</a:t>
            </a:r>
          </a:p>
          <a:p>
            <a:r>
              <a:rPr lang="en-US" sz="1900">
                <a:latin typeface="Times New Roman"/>
                <a:ea typeface="+mn-lt"/>
                <a:cs typeface="Times New Roman"/>
              </a:rPr>
              <a:t>Spark </a:t>
            </a:r>
            <a:r>
              <a:rPr lang="en-US" sz="1900" err="1">
                <a:latin typeface="Times New Roman"/>
                <a:ea typeface="+mn-lt"/>
                <a:cs typeface="Times New Roman"/>
              </a:rPr>
              <a:t>MLlib</a:t>
            </a:r>
            <a:r>
              <a:rPr lang="en-US" sz="1900">
                <a:latin typeface="Times New Roman"/>
                <a:ea typeface="+mn-lt"/>
                <a:cs typeface="Times New Roman"/>
              </a:rPr>
              <a:t> is the </a:t>
            </a:r>
            <a:r>
              <a:rPr lang="en-US" sz="1900" b="1">
                <a:latin typeface="Times New Roman"/>
                <a:ea typeface="+mn-lt"/>
                <a:cs typeface="Times New Roman"/>
              </a:rPr>
              <a:t>machine learning library integrated with Apache Spark</a:t>
            </a:r>
            <a:r>
              <a:rPr lang="en-US" sz="1900">
                <a:latin typeface="Times New Roman"/>
                <a:ea typeface="+mn-lt"/>
                <a:cs typeface="Times New Roman"/>
              </a:rPr>
              <a:t>.</a:t>
            </a:r>
            <a:endParaRPr lang="en-US" sz="19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900" b="1">
                <a:latin typeface="Times New Roman"/>
                <a:ea typeface="+mn-lt"/>
                <a:cs typeface="Times New Roman"/>
              </a:rPr>
              <a:t>Purpose in the project:</a:t>
            </a:r>
            <a:endParaRPr lang="en-US" sz="1900">
              <a:latin typeface="Times New Roman"/>
              <a:cs typeface="Times New Roman"/>
            </a:endParaRPr>
          </a:p>
          <a:p>
            <a:r>
              <a:rPr lang="en-US" sz="1900">
                <a:latin typeface="Times New Roman"/>
                <a:ea typeface="+mn-lt"/>
                <a:cs typeface="Times New Roman"/>
              </a:rPr>
              <a:t>Feature engineering using </a:t>
            </a:r>
            <a:r>
              <a:rPr lang="en-US" sz="1900" b="1" err="1">
                <a:latin typeface="Times New Roman"/>
                <a:ea typeface="+mn-lt"/>
                <a:cs typeface="Times New Roman"/>
              </a:rPr>
              <a:t>VectorAssembler</a:t>
            </a:r>
            <a:endParaRPr lang="en-US" sz="1900" err="1">
              <a:latin typeface="Times New Roman"/>
              <a:cs typeface="Times New Roman"/>
            </a:endParaRPr>
          </a:p>
          <a:p>
            <a:r>
              <a:rPr lang="en-US" sz="1900">
                <a:latin typeface="Times New Roman"/>
                <a:ea typeface="+mn-lt"/>
                <a:cs typeface="Times New Roman"/>
              </a:rPr>
              <a:t>Statistical analysis using </a:t>
            </a:r>
            <a:r>
              <a:rPr lang="en-US" sz="1900" b="1">
                <a:latin typeface="Times New Roman"/>
                <a:ea typeface="+mn-lt"/>
                <a:cs typeface="Times New Roman"/>
              </a:rPr>
              <a:t>Correlation and Summarizer</a:t>
            </a:r>
            <a:endParaRPr lang="en-US" sz="1900">
              <a:latin typeface="Times New Roman"/>
              <a:cs typeface="Times New Roman"/>
            </a:endParaRPr>
          </a:p>
          <a:p>
            <a:r>
              <a:rPr lang="en-US" sz="1900">
                <a:latin typeface="Times New Roman"/>
                <a:ea typeface="+mn-lt"/>
                <a:cs typeface="Times New Roman"/>
              </a:rPr>
              <a:t>Extracting relationships between system metrics</a:t>
            </a:r>
            <a:endParaRPr lang="en-US" sz="19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900" b="1">
                <a:latin typeface="Times New Roman"/>
                <a:ea typeface="+mn-lt"/>
                <a:cs typeface="Times New Roman"/>
              </a:rPr>
              <a:t>Key advantage:</a:t>
            </a:r>
            <a:br>
              <a:rPr lang="en-US" sz="1900" b="1">
                <a:latin typeface="Times New Roman"/>
                <a:ea typeface="+mn-lt"/>
                <a:cs typeface="Times New Roman"/>
              </a:rPr>
            </a:br>
            <a:r>
              <a:rPr lang="en-US" sz="1900">
                <a:latin typeface="Times New Roman"/>
                <a:ea typeface="+mn-lt"/>
                <a:cs typeface="Times New Roman"/>
              </a:rPr>
              <a:t> Machine learning algorithms that scale to large datasets.</a:t>
            </a:r>
            <a:endParaRPr lang="en-US" sz="19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9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900" b="1">
                <a:latin typeface="Times New Roman"/>
                <a:cs typeface="Times New Roman"/>
              </a:rPr>
              <a:t>4. Apache Parquet</a:t>
            </a:r>
          </a:p>
          <a:p>
            <a:r>
              <a:rPr lang="en-US" sz="1900">
                <a:latin typeface="Times New Roman"/>
                <a:ea typeface="+mn-lt"/>
                <a:cs typeface="Times New Roman"/>
              </a:rPr>
              <a:t>Apache Parquet is a </a:t>
            </a:r>
            <a:r>
              <a:rPr lang="en-US" sz="1900" b="1">
                <a:latin typeface="Times New Roman"/>
                <a:ea typeface="+mn-lt"/>
                <a:cs typeface="Times New Roman"/>
              </a:rPr>
              <a:t>columnar storage format optimized for big data processing</a:t>
            </a:r>
            <a:r>
              <a:rPr lang="en-US" sz="1900">
                <a:latin typeface="Times New Roman"/>
                <a:ea typeface="+mn-lt"/>
                <a:cs typeface="Times New Roman"/>
              </a:rPr>
              <a:t>.</a:t>
            </a:r>
            <a:endParaRPr lang="en-US" sz="19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900" b="1">
                <a:latin typeface="Times New Roman"/>
                <a:ea typeface="+mn-lt"/>
                <a:cs typeface="Times New Roman"/>
              </a:rPr>
              <a:t>Purpose in the project:</a:t>
            </a:r>
            <a:endParaRPr lang="en-US" sz="1900">
              <a:latin typeface="Times New Roman"/>
              <a:cs typeface="Times New Roman"/>
            </a:endParaRPr>
          </a:p>
          <a:p>
            <a:r>
              <a:rPr lang="en-US" sz="1900">
                <a:latin typeface="Times New Roman"/>
                <a:ea typeface="+mn-lt"/>
                <a:cs typeface="Times New Roman"/>
              </a:rPr>
              <a:t>Storing processed telemetry data efficiently</a:t>
            </a:r>
            <a:endParaRPr lang="en-US" sz="1900">
              <a:latin typeface="Times New Roman"/>
              <a:cs typeface="Times New Roman"/>
            </a:endParaRPr>
          </a:p>
          <a:p>
            <a:r>
              <a:rPr lang="en-US" sz="1900">
                <a:latin typeface="Times New Roman"/>
                <a:ea typeface="+mn-lt"/>
                <a:cs typeface="Times New Roman"/>
              </a:rPr>
              <a:t>Reducing storage size through </a:t>
            </a:r>
            <a:r>
              <a:rPr lang="en-US" sz="1900" b="1">
                <a:latin typeface="Times New Roman"/>
                <a:ea typeface="+mn-lt"/>
                <a:cs typeface="Times New Roman"/>
              </a:rPr>
              <a:t>compression</a:t>
            </a:r>
            <a:endParaRPr lang="en-US" sz="1900">
              <a:latin typeface="Times New Roman"/>
              <a:cs typeface="Times New Roman"/>
            </a:endParaRPr>
          </a:p>
          <a:p>
            <a:r>
              <a:rPr lang="en-US" sz="1900">
                <a:latin typeface="Times New Roman"/>
                <a:ea typeface="+mn-lt"/>
                <a:cs typeface="Times New Roman"/>
              </a:rPr>
              <a:t>Improving query performance by </a:t>
            </a:r>
            <a:r>
              <a:rPr lang="en-US" sz="1900" b="1">
                <a:latin typeface="Times New Roman"/>
                <a:ea typeface="+mn-lt"/>
                <a:cs typeface="Times New Roman"/>
              </a:rPr>
              <a:t>reading only required columns</a:t>
            </a:r>
            <a:endParaRPr lang="en-US" sz="19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696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56550-D7B0-C8E4-80E0-DE55C3BE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3109C4-AC12-D635-5E50-12C8CF2D0336}"/>
              </a:ext>
            </a:extLst>
          </p:cNvPr>
          <p:cNvSpPr txBox="1"/>
          <p:nvPr/>
        </p:nvSpPr>
        <p:spPr>
          <a:xfrm>
            <a:off x="938061" y="1694110"/>
            <a:ext cx="173372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Alibaba Cluster Dataset</a:t>
            </a:r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8DD3644-CB03-EE64-9F86-FFA33F08A895}"/>
              </a:ext>
            </a:extLst>
          </p:cNvPr>
          <p:cNvSpPr/>
          <p:nvPr/>
        </p:nvSpPr>
        <p:spPr>
          <a:xfrm>
            <a:off x="2670363" y="1908184"/>
            <a:ext cx="1834119" cy="22169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018171-0DB2-CC57-A11C-C5C03E79ADC8}"/>
              </a:ext>
            </a:extLst>
          </p:cNvPr>
          <p:cNvSpPr txBox="1"/>
          <p:nvPr/>
        </p:nvSpPr>
        <p:spPr>
          <a:xfrm>
            <a:off x="4504982" y="1421965"/>
            <a:ext cx="2831818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Apache Spark ETL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Schema enforcement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Data cleaning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Timestamp bucketing</a:t>
            </a:r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3C3EDCC-510C-0E62-9495-4783C3C0AEBF}"/>
              </a:ext>
            </a:extLst>
          </p:cNvPr>
          <p:cNvSpPr/>
          <p:nvPr/>
        </p:nvSpPr>
        <p:spPr>
          <a:xfrm>
            <a:off x="7336308" y="1908183"/>
            <a:ext cx="1834119" cy="22169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AF9C76-D9E8-DF39-237C-289042FD5B52}"/>
              </a:ext>
            </a:extLst>
          </p:cNvPr>
          <p:cNvSpPr txBox="1"/>
          <p:nvPr/>
        </p:nvSpPr>
        <p:spPr>
          <a:xfrm>
            <a:off x="9170349" y="1275081"/>
            <a:ext cx="281475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Distributed Data Processing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Spark DataFrame API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groupBy aggregation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Parallel computation</a:t>
            </a:r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B0BEB08-64E7-6F23-D8B0-40911C2B2C3E}"/>
              </a:ext>
            </a:extLst>
          </p:cNvPr>
          <p:cNvSpPr/>
          <p:nvPr/>
        </p:nvSpPr>
        <p:spPr>
          <a:xfrm rot="5400000">
            <a:off x="9669280" y="3562661"/>
            <a:ext cx="1823681" cy="22169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2FCF4E-B8C7-0497-4CFF-418305541744}"/>
              </a:ext>
            </a:extLst>
          </p:cNvPr>
          <p:cNvSpPr txBox="1"/>
          <p:nvPr/>
        </p:nvSpPr>
        <p:spPr>
          <a:xfrm>
            <a:off x="9322045" y="4577052"/>
            <a:ext cx="2520164" cy="14980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Parquet Storage Layer</a:t>
            </a:r>
            <a:br>
              <a:rPr lang="en-US"/>
            </a:br>
            <a:r>
              <a:rPr lang="en-US"/>
              <a:t>• Columnar storage format</a:t>
            </a:r>
            <a:br>
              <a:rPr lang="en-US"/>
            </a:br>
            <a:r>
              <a:rPr lang="en-US"/>
              <a:t>• Data compression</a:t>
            </a:r>
            <a:br>
              <a:rPr lang="en-US"/>
            </a:br>
            <a:r>
              <a:rPr lang="en-US"/>
              <a:t>• Partitioned datasets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44080AD-8D39-7ACE-A177-2464AA3BBAC9}"/>
              </a:ext>
            </a:extLst>
          </p:cNvPr>
          <p:cNvSpPr/>
          <p:nvPr/>
        </p:nvSpPr>
        <p:spPr>
          <a:xfrm rot="10800000">
            <a:off x="8275757" y="5217139"/>
            <a:ext cx="1040804" cy="23213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1F8EF0-2D7F-2AC8-A8B6-FD5315B56E77}"/>
              </a:ext>
            </a:extLst>
          </p:cNvPr>
          <p:cNvSpPr txBox="1"/>
          <p:nvPr/>
        </p:nvSpPr>
        <p:spPr>
          <a:xfrm>
            <a:off x="5723488" y="4600672"/>
            <a:ext cx="252992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Big Data Analytics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Spark MLlib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Correlation analysis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Distributed statistics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Window functions</a:t>
            </a:r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E597A68-9E4C-4CDB-D1E8-18A40DCF2562}"/>
              </a:ext>
            </a:extLst>
          </p:cNvPr>
          <p:cNvSpPr/>
          <p:nvPr/>
        </p:nvSpPr>
        <p:spPr>
          <a:xfrm rot="10800000">
            <a:off x="4069098" y="5217138"/>
            <a:ext cx="1614914" cy="22169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47ED91-7BDC-6E72-17BA-0BCC1700E54A}"/>
              </a:ext>
            </a:extLst>
          </p:cNvPr>
          <p:cNvSpPr txBox="1"/>
          <p:nvPr/>
        </p:nvSpPr>
        <p:spPr>
          <a:xfrm>
            <a:off x="619742" y="4732808"/>
            <a:ext cx="343581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Carbon-Aware Scheduling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Spark SQL queries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Window ranking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Optimal job execution slot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64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8C4B9D-9F69-D946-453F-8252136AD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cs typeface="Times New Roman"/>
              </a:rPr>
              <a:t>Methodology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36DCB03-9BC0-123A-3405-AE945220B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endParaRPr lang="en-US" sz="24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>
                <a:latin typeface="Times New Roman"/>
                <a:ea typeface="+mn-lt"/>
                <a:cs typeface="Times New Roman"/>
              </a:rPr>
              <a:t>The proposed system processes large-scale data center telemetry using a </a:t>
            </a:r>
            <a:r>
              <a:rPr lang="en-US" sz="2400" b="1">
                <a:latin typeface="Times New Roman"/>
                <a:ea typeface="+mn-lt"/>
                <a:cs typeface="Times New Roman"/>
              </a:rPr>
              <a:t>Big Data Analytics pipeline built on Apache Spark</a:t>
            </a:r>
            <a:r>
              <a:rPr lang="en-US" sz="2400">
                <a:latin typeface="Times New Roman"/>
                <a:ea typeface="+mn-lt"/>
                <a:cs typeface="Times New Roman"/>
              </a:rPr>
              <a:t>. The methodology consists of several stages:</a:t>
            </a:r>
            <a:endParaRPr lang="en-US" sz="24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>
                <a:latin typeface="Times New Roman"/>
                <a:ea typeface="+mn-lt"/>
                <a:cs typeface="Times New Roman"/>
              </a:rPr>
              <a:t>1. Data Ingestion</a:t>
            </a:r>
            <a:br>
              <a:rPr lang="en-US" sz="2400">
                <a:latin typeface="Times New Roman"/>
                <a:ea typeface="+mn-lt"/>
                <a:cs typeface="Times New Roman"/>
              </a:rPr>
            </a:br>
            <a:r>
              <a:rPr lang="en-US" sz="2400">
                <a:latin typeface="Times New Roman"/>
                <a:ea typeface="+mn-lt"/>
                <a:cs typeface="Times New Roman"/>
              </a:rPr>
              <a:t> The Alibaba Cluster Trace dataset containing ~95 million records is loaded into Apache Spark for distributed processing.</a:t>
            </a:r>
            <a:endParaRPr lang="en-US" sz="24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>
                <a:latin typeface="Times New Roman"/>
                <a:ea typeface="+mn-lt"/>
                <a:cs typeface="Times New Roman"/>
              </a:rPr>
              <a:t>2. Data Preprocessing (Spark ETL)</a:t>
            </a:r>
            <a:br>
              <a:rPr lang="en-US" sz="2400">
                <a:latin typeface="Times New Roman"/>
                <a:ea typeface="+mn-lt"/>
                <a:cs typeface="Times New Roman"/>
              </a:rPr>
            </a:br>
            <a:r>
              <a:rPr lang="en-US" sz="2400">
                <a:latin typeface="Times New Roman"/>
                <a:ea typeface="+mn-lt"/>
                <a:cs typeface="Times New Roman"/>
              </a:rPr>
              <a:t> Raw telemetry data is cleaned and standardized using Spark operations.</a:t>
            </a:r>
            <a:endParaRPr lang="en-US" sz="24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>
                <a:latin typeface="Times New Roman"/>
                <a:ea typeface="+mn-lt"/>
                <a:cs typeface="Times New Roman"/>
              </a:rPr>
              <a:t>• Schema enforcement for correct data types</a:t>
            </a:r>
            <a:br>
              <a:rPr lang="en-US" sz="2400">
                <a:latin typeface="Times New Roman"/>
                <a:ea typeface="+mn-lt"/>
                <a:cs typeface="Times New Roman"/>
              </a:rPr>
            </a:br>
            <a:r>
              <a:rPr lang="en-US" sz="2400">
                <a:latin typeface="Times New Roman"/>
                <a:ea typeface="+mn-lt"/>
                <a:cs typeface="Times New Roman"/>
              </a:rPr>
              <a:t> • Removal of invalid or corrupted values</a:t>
            </a:r>
            <a:br>
              <a:rPr lang="en-US" sz="2400">
                <a:latin typeface="Times New Roman"/>
                <a:ea typeface="+mn-lt"/>
                <a:cs typeface="Times New Roman"/>
              </a:rPr>
            </a:br>
            <a:r>
              <a:rPr lang="en-US" sz="2400">
                <a:latin typeface="Times New Roman"/>
                <a:ea typeface="+mn-lt"/>
                <a:cs typeface="Times New Roman"/>
              </a:rPr>
              <a:t> • Timestamp normalization into fixed time buckets</a:t>
            </a:r>
            <a:endParaRPr lang="en-US" sz="24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83343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2696DC-E23C-E1F3-03C3-B2F55AF26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cs typeface="Times New Roman"/>
              </a:rPr>
              <a:t>Methodology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7CCA6-3DC9-5221-BA53-07901860C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200">
                <a:latin typeface="Times New Roman"/>
                <a:ea typeface="+mn-lt"/>
                <a:cs typeface="Times New Roman"/>
              </a:rPr>
              <a:t>3. Distributed Data Aggregation</a:t>
            </a:r>
            <a:br>
              <a:rPr lang="en-US" sz="2200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 Spark DataFrame operations perform large-scale aggregation of machine metrics.</a:t>
            </a:r>
            <a:endParaRPr lang="en-US" sz="2200">
              <a:latin typeface="Times New Roman"/>
              <a:cs typeface="Times New Roman"/>
            </a:endParaRPr>
          </a:p>
          <a:p>
            <a:r>
              <a:rPr lang="en-US" sz="2200">
                <a:latin typeface="Times New Roman"/>
                <a:ea typeface="+mn-lt"/>
                <a:cs typeface="Times New Roman"/>
              </a:rPr>
              <a:t>Example:</a:t>
            </a:r>
            <a:br>
              <a:rPr lang="en-US" sz="2200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 95M rows → ~8.4M aggregated rows</a:t>
            </a:r>
            <a:endParaRPr lang="en-US" sz="2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200">
                <a:latin typeface="Times New Roman"/>
                <a:ea typeface="+mn-lt"/>
                <a:cs typeface="Times New Roman"/>
              </a:rPr>
              <a:t>4. Data Storage Optimization</a:t>
            </a:r>
            <a:br>
              <a:rPr lang="en-US" sz="2200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 Processed data is stored in Apache Parquet format for efficient compression and faster queries.</a:t>
            </a:r>
            <a:endParaRPr lang="en-US" sz="2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200">
                <a:latin typeface="Times New Roman"/>
                <a:ea typeface="+mn-lt"/>
                <a:cs typeface="Times New Roman"/>
              </a:rPr>
              <a:t>5. Big Data Analytics</a:t>
            </a:r>
            <a:br>
              <a:rPr lang="en-US" sz="2200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 Spark MLlib is used for large-scale statistical analysis including correlation and rolling statistics.</a:t>
            </a:r>
          </a:p>
          <a:p>
            <a:pPr marL="0" indent="0">
              <a:buNone/>
            </a:pPr>
            <a:r>
              <a:rPr lang="en-US" sz="2200">
                <a:latin typeface="Times New Roman"/>
                <a:ea typeface="+mn-lt"/>
                <a:cs typeface="Times New Roman"/>
              </a:rPr>
              <a:t>6. Carbon-Aware Scheduling</a:t>
            </a:r>
            <a:br>
              <a:rPr lang="en-US" sz="2200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 Spark SQL queries identify optimal execution windows based on carbon intensity levels to reduce emissions.</a:t>
            </a:r>
            <a:endParaRPr lang="en-US" sz="2200">
              <a:latin typeface="Times New Roman"/>
              <a:cs typeface="Times New Roman"/>
            </a:endParaRPr>
          </a:p>
          <a:p>
            <a:endParaRPr lang="en-US" sz="2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6280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B51618-A30C-423F-A049-E88FC7ECA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Times New Roman"/>
                <a:cs typeface="Times New Roman"/>
              </a:rPr>
              <a:t>Spark ETL Processing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EDEFE0-8C50-73E8-32CF-7D638488310B}"/>
              </a:ext>
            </a:extLst>
          </p:cNvPr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>
                <a:latin typeface="Times New Roman"/>
                <a:cs typeface="Times New Roman"/>
              </a:rPr>
              <a:t>Apache Spark is used to perform </a:t>
            </a:r>
            <a:r>
              <a:rPr lang="en-US" sz="1900" b="1">
                <a:latin typeface="Times New Roman"/>
                <a:cs typeface="Times New Roman"/>
              </a:rPr>
              <a:t>distributed ETL (Extract, Transform, Load)</a:t>
            </a:r>
            <a:r>
              <a:rPr lang="en-US" sz="1900">
                <a:latin typeface="Times New Roman"/>
                <a:cs typeface="Times New Roman"/>
              </a:rPr>
              <a:t> operations on the large-scale Alibaba cluster dataset.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b="1">
                <a:latin typeface="Times New Roman"/>
                <a:cs typeface="Times New Roman"/>
              </a:rPr>
              <a:t>Extract</a:t>
            </a:r>
            <a:br>
              <a:rPr lang="en-US" sz="1900">
                <a:latin typeface="Times New Roman"/>
                <a:cs typeface="Times New Roman"/>
              </a:rPr>
            </a:br>
            <a:r>
              <a:rPr lang="en-US" sz="1900">
                <a:latin typeface="Times New Roman"/>
                <a:cs typeface="Times New Roman"/>
              </a:rPr>
              <a:t>• Load ~95 million telemetry records into Spark using a predefined schema.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b="1">
                <a:latin typeface="Times New Roman"/>
                <a:cs typeface="Times New Roman"/>
              </a:rPr>
              <a:t>Transform</a:t>
            </a:r>
            <a:br>
              <a:rPr lang="en-US" sz="1900">
                <a:latin typeface="Times New Roman"/>
                <a:cs typeface="Times New Roman"/>
              </a:rPr>
            </a:br>
            <a:r>
              <a:rPr lang="en-US" sz="1900">
                <a:latin typeface="Times New Roman"/>
                <a:cs typeface="Times New Roman"/>
              </a:rPr>
              <a:t>• Remove invalid sensor values</a:t>
            </a:r>
            <a:br>
              <a:rPr lang="en-US" sz="1900">
                <a:latin typeface="Times New Roman"/>
                <a:cs typeface="Times New Roman"/>
              </a:rPr>
            </a:br>
            <a:r>
              <a:rPr lang="en-US" sz="1900">
                <a:latin typeface="Times New Roman"/>
                <a:cs typeface="Times New Roman"/>
              </a:rPr>
              <a:t>• Handle missing data</a:t>
            </a:r>
            <a:br>
              <a:rPr lang="en-US" sz="1900">
                <a:latin typeface="Times New Roman"/>
                <a:cs typeface="Times New Roman"/>
              </a:rPr>
            </a:br>
            <a:r>
              <a:rPr lang="en-US" sz="1900">
                <a:latin typeface="Times New Roman"/>
                <a:cs typeface="Times New Roman"/>
              </a:rPr>
              <a:t>• Normalize timestamps into fixed time buckets</a:t>
            </a:r>
            <a:br>
              <a:rPr lang="en-US" sz="1900">
                <a:latin typeface="Times New Roman"/>
                <a:cs typeface="Times New Roman"/>
              </a:rPr>
            </a:br>
            <a:r>
              <a:rPr lang="en-US" sz="1900">
                <a:latin typeface="Times New Roman"/>
                <a:cs typeface="Times New Roman"/>
              </a:rPr>
              <a:t>• Aggregate machine metrics using </a:t>
            </a:r>
            <a:r>
              <a:rPr lang="en-US" sz="1900" err="1">
                <a:latin typeface="Times New Roman"/>
                <a:cs typeface="Times New Roman"/>
              </a:rPr>
              <a:t>groupBy</a:t>
            </a:r>
            <a:endParaRPr lang="en-US" sz="190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b="1">
                <a:latin typeface="Times New Roman"/>
                <a:cs typeface="Times New Roman"/>
              </a:rPr>
              <a:t>Load</a:t>
            </a:r>
            <a:br>
              <a:rPr lang="en-US" sz="1900">
                <a:latin typeface="Times New Roman"/>
                <a:cs typeface="Times New Roman"/>
              </a:rPr>
            </a:br>
            <a:r>
              <a:rPr lang="en-US" sz="1900">
                <a:latin typeface="Times New Roman"/>
                <a:cs typeface="Times New Roman"/>
              </a:rPr>
              <a:t>• Store processed data in </a:t>
            </a:r>
            <a:r>
              <a:rPr lang="en-US" sz="1900" b="1">
                <a:latin typeface="Times New Roman"/>
                <a:cs typeface="Times New Roman"/>
              </a:rPr>
              <a:t>Apache Parquet format</a:t>
            </a:r>
            <a:r>
              <a:rPr lang="en-US" sz="1900">
                <a:latin typeface="Times New Roman"/>
                <a:cs typeface="Times New Roman"/>
              </a:rPr>
              <a:t> for efficient storage and faster queries.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b="1">
                <a:latin typeface="Times New Roman"/>
                <a:cs typeface="Times New Roman"/>
              </a:rPr>
              <a:t>Key Benefit:</a:t>
            </a:r>
            <a:br>
              <a:rPr lang="en-US" sz="1900">
                <a:latin typeface="Times New Roman"/>
                <a:cs typeface="Times New Roman"/>
              </a:rPr>
            </a:br>
            <a:r>
              <a:rPr lang="en-US" sz="1900">
                <a:latin typeface="Times New Roman"/>
                <a:cs typeface="Times New Roman"/>
              </a:rPr>
              <a:t>Distributed Spark processing enables efficient handling of large-scale telemetry data across multiple CPU cores.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5983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5857C6-1C4E-66C6-56B1-8188E04FB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Big Data Analytics</a:t>
            </a:r>
            <a:endParaRPr lang="en-US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DA6A1-382C-352E-E9F4-7F342FCEE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900">
                <a:latin typeface="Times New Roman"/>
                <a:ea typeface="+mn-lt"/>
                <a:cs typeface="Times New Roman"/>
              </a:rPr>
              <a:t>After preprocessing, Apache Spark is used to perform </a:t>
            </a:r>
            <a:r>
              <a:rPr lang="en-US" sz="1900" b="1">
                <a:latin typeface="Times New Roman"/>
                <a:ea typeface="+mn-lt"/>
                <a:cs typeface="Times New Roman"/>
              </a:rPr>
              <a:t>large-scale analytics on the processed telemetry data</a:t>
            </a:r>
            <a:r>
              <a:rPr lang="en-US" sz="1900">
                <a:latin typeface="Times New Roman"/>
                <a:ea typeface="+mn-lt"/>
                <a:cs typeface="Times New Roman"/>
              </a:rPr>
              <a:t>.</a:t>
            </a:r>
            <a:endParaRPr lang="en-US" sz="19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900" b="1">
                <a:latin typeface="Times New Roman"/>
                <a:ea typeface="+mn-lt"/>
                <a:cs typeface="Times New Roman"/>
              </a:rPr>
              <a:t>Tools Used</a:t>
            </a:r>
            <a:endParaRPr lang="en-US" sz="19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900">
                <a:latin typeface="Times New Roman"/>
                <a:ea typeface="+mn-lt"/>
                <a:cs typeface="Times New Roman"/>
              </a:rPr>
              <a:t>• </a:t>
            </a:r>
            <a:r>
              <a:rPr lang="en-US" sz="1900" b="1">
                <a:latin typeface="Times New Roman"/>
                <a:ea typeface="+mn-lt"/>
                <a:cs typeface="Times New Roman"/>
              </a:rPr>
              <a:t>Spark MLlib</a:t>
            </a:r>
            <a:r>
              <a:rPr lang="en-US" sz="1900">
                <a:latin typeface="Times New Roman"/>
                <a:ea typeface="+mn-lt"/>
                <a:cs typeface="Times New Roman"/>
              </a:rPr>
              <a:t> – scalable machine learning and statistical library</a:t>
            </a:r>
            <a:br>
              <a:rPr lang="en-US" sz="1900">
                <a:latin typeface="Times New Roman"/>
                <a:ea typeface="+mn-lt"/>
                <a:cs typeface="Times New Roman"/>
              </a:rPr>
            </a:br>
            <a:r>
              <a:rPr lang="en-US" sz="1900">
                <a:latin typeface="Times New Roman"/>
                <a:ea typeface="+mn-lt"/>
                <a:cs typeface="Times New Roman"/>
              </a:rPr>
              <a:t> • </a:t>
            </a:r>
            <a:r>
              <a:rPr lang="en-US" sz="1900" b="1">
                <a:latin typeface="Times New Roman"/>
                <a:ea typeface="+mn-lt"/>
                <a:cs typeface="Times New Roman"/>
              </a:rPr>
              <a:t>VectorAssembler</a:t>
            </a:r>
            <a:r>
              <a:rPr lang="en-US" sz="1900">
                <a:latin typeface="Times New Roman"/>
                <a:ea typeface="+mn-lt"/>
                <a:cs typeface="Times New Roman"/>
              </a:rPr>
              <a:t> – converts multiple features into a single feature vector</a:t>
            </a:r>
            <a:br>
              <a:rPr lang="en-US" sz="1900">
                <a:latin typeface="Times New Roman"/>
                <a:ea typeface="+mn-lt"/>
                <a:cs typeface="Times New Roman"/>
              </a:rPr>
            </a:br>
            <a:r>
              <a:rPr lang="en-US" sz="1900">
                <a:latin typeface="Times New Roman"/>
                <a:ea typeface="+mn-lt"/>
                <a:cs typeface="Times New Roman"/>
              </a:rPr>
              <a:t> • </a:t>
            </a:r>
            <a:r>
              <a:rPr lang="en-US" sz="1900" b="1">
                <a:latin typeface="Times New Roman"/>
                <a:ea typeface="+mn-lt"/>
                <a:cs typeface="Times New Roman"/>
              </a:rPr>
              <a:t>Correlation Analysis</a:t>
            </a:r>
            <a:r>
              <a:rPr lang="en-US" sz="1900">
                <a:latin typeface="Times New Roman"/>
                <a:ea typeface="+mn-lt"/>
                <a:cs typeface="Times New Roman"/>
              </a:rPr>
              <a:t> – identifies relationships between system metrics</a:t>
            </a:r>
            <a:br>
              <a:rPr lang="en-US" sz="1900">
                <a:latin typeface="Times New Roman"/>
                <a:ea typeface="+mn-lt"/>
                <a:cs typeface="Times New Roman"/>
              </a:rPr>
            </a:br>
            <a:r>
              <a:rPr lang="en-US" sz="1900">
                <a:latin typeface="Times New Roman"/>
                <a:ea typeface="+mn-lt"/>
                <a:cs typeface="Times New Roman"/>
              </a:rPr>
              <a:t> • </a:t>
            </a:r>
            <a:r>
              <a:rPr lang="en-US" sz="1900" b="1">
                <a:latin typeface="Times New Roman"/>
                <a:ea typeface="+mn-lt"/>
                <a:cs typeface="Times New Roman"/>
              </a:rPr>
              <a:t>Summarizer</a:t>
            </a:r>
            <a:r>
              <a:rPr lang="en-US" sz="1900">
                <a:latin typeface="Times New Roman"/>
                <a:ea typeface="+mn-lt"/>
                <a:cs typeface="Times New Roman"/>
              </a:rPr>
              <a:t> – computes distributed statistics such as mean and variance</a:t>
            </a:r>
            <a:endParaRPr lang="en-US" sz="19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900" b="1">
                <a:latin typeface="Times New Roman"/>
                <a:ea typeface="+mn-lt"/>
                <a:cs typeface="Times New Roman"/>
              </a:rPr>
              <a:t>Analytics Performed</a:t>
            </a:r>
            <a:endParaRPr lang="en-US" sz="19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900">
                <a:latin typeface="Times New Roman"/>
                <a:ea typeface="+mn-lt"/>
                <a:cs typeface="Times New Roman"/>
              </a:rPr>
              <a:t>• CPU, memory, and network usage pattern analysis</a:t>
            </a:r>
            <a:br>
              <a:rPr lang="en-US" sz="1900">
                <a:latin typeface="Times New Roman"/>
                <a:ea typeface="+mn-lt"/>
                <a:cs typeface="Times New Roman"/>
              </a:rPr>
            </a:br>
            <a:r>
              <a:rPr lang="en-US" sz="1900">
                <a:latin typeface="Times New Roman"/>
                <a:ea typeface="+mn-lt"/>
                <a:cs typeface="Times New Roman"/>
              </a:rPr>
              <a:t> • Correlation between workload metrics</a:t>
            </a:r>
            <a:br>
              <a:rPr lang="en-US" sz="1900">
                <a:latin typeface="Times New Roman"/>
                <a:ea typeface="+mn-lt"/>
                <a:cs typeface="Times New Roman"/>
              </a:rPr>
            </a:br>
            <a:r>
              <a:rPr lang="en-US" sz="1900">
                <a:latin typeface="Times New Roman"/>
                <a:ea typeface="+mn-lt"/>
                <a:cs typeface="Times New Roman"/>
              </a:rPr>
              <a:t> • Statistical summary of cluster resource utilization</a:t>
            </a:r>
            <a:endParaRPr lang="en-US" sz="19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900" b="1">
                <a:latin typeface="Times New Roman"/>
                <a:ea typeface="+mn-lt"/>
                <a:cs typeface="Times New Roman"/>
              </a:rPr>
              <a:t>Purpose</a:t>
            </a:r>
            <a:endParaRPr lang="en-US" sz="1900">
              <a:latin typeface="Times New Roman"/>
              <a:cs typeface="Times New Roman"/>
            </a:endParaRPr>
          </a:p>
          <a:p>
            <a:r>
              <a:rPr lang="en-US" sz="1900">
                <a:latin typeface="Times New Roman"/>
                <a:ea typeface="+mn-lt"/>
                <a:cs typeface="Times New Roman"/>
              </a:rPr>
              <a:t>To extract meaningful insights from large-scale telemetry data and understand </a:t>
            </a:r>
            <a:r>
              <a:rPr lang="en-US" sz="1900" b="1">
                <a:latin typeface="Times New Roman"/>
                <a:ea typeface="+mn-lt"/>
                <a:cs typeface="Times New Roman"/>
              </a:rPr>
              <a:t>system behavior across thousands of machines</a:t>
            </a:r>
            <a:r>
              <a:rPr lang="en-US" sz="1900">
                <a:latin typeface="Times New Roman"/>
                <a:ea typeface="+mn-lt"/>
                <a:cs typeface="Times New Roman"/>
              </a:rPr>
              <a:t> using distributed computation.</a:t>
            </a:r>
            <a:endParaRPr lang="en-US" sz="1900">
              <a:latin typeface="Times New Roman"/>
              <a:cs typeface="Times New Roman"/>
            </a:endParaRPr>
          </a:p>
          <a:p>
            <a:endParaRPr lang="en-US" sz="19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00058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A5856-3914-CCAF-49A1-DB8665916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4743A04A-F678-E761-E80A-05C577A69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625" y="1675227"/>
            <a:ext cx="8062750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75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text and numbers on it&#10;&#10;AI-generated content may be incorrect.">
            <a:extLst>
              <a:ext uri="{FF2B5EF4-FFF2-40B4-BE49-F238E27FC236}">
                <a16:creationId xmlns:a16="http://schemas.microsoft.com/office/drawing/2014/main" id="{5E586C8F-2BB0-9963-F115-CE7CC6E632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425194"/>
            <a:ext cx="10905066" cy="400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596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724A1C-E5DC-985D-A3AC-893F4C7B11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0287" b="114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80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E3BDFD-0835-F062-5683-A2888C1856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87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D8EF1301-5ABA-8FD5-D03B-F77A7D03CC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803" r="3069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952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A1828E-42C8-2DF3-F5CB-3BC8C684FF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446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980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242488-CEEB-0172-79B6-D7F0B7F12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42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4D7444E-8572-6DFD-CB75-0984238C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C89D56-574B-DBE6-E414-A886D4CD9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6808B29-2E24-7E95-6543-9B0B82179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51947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177BE4-2652-502F-CFEF-33DD03F53B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70890"/>
            <a:ext cx="10905066" cy="531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12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73D40-056A-A9B5-AF10-C31F70D1A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C107A-E0D1-C4B3-477E-7057FCD15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latin typeface="Times New Roman"/>
                <a:ea typeface="+mn-lt"/>
                <a:cs typeface="Times New Roman"/>
              </a:rPr>
              <a:t>This project demonstrates how Big Data Analytics can be used to analyze large-scale data center telemetry and improve workload management.</a:t>
            </a:r>
            <a:endParaRPr lang="en-US" sz="2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latin typeface="Times New Roman"/>
                <a:ea typeface="+mn-lt"/>
                <a:cs typeface="Times New Roman"/>
              </a:rPr>
              <a:t>Apache Spark enabled efficient processing of 95 million telemetry records through distributed ETL, aggregation, and large-scale analytics.</a:t>
            </a:r>
            <a:endParaRPr lang="en-US" sz="2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latin typeface="Times New Roman"/>
                <a:ea typeface="+mn-lt"/>
                <a:cs typeface="Times New Roman"/>
              </a:rPr>
              <a:t>Key contributions of the system include:</a:t>
            </a:r>
            <a:endParaRPr lang="en-US" sz="2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latin typeface="Times New Roman"/>
                <a:ea typeface="+mn-lt"/>
                <a:cs typeface="Times New Roman"/>
              </a:rPr>
              <a:t>• Scalable processing of large infrastructure datasets using Spark</a:t>
            </a:r>
            <a:br>
              <a:rPr lang="en-US" sz="2000">
                <a:latin typeface="Times New Roman"/>
                <a:ea typeface="+mn-lt"/>
                <a:cs typeface="Times New Roman"/>
              </a:rPr>
            </a:br>
            <a:r>
              <a:rPr lang="en-US" sz="2000">
                <a:latin typeface="Times New Roman"/>
                <a:ea typeface="+mn-lt"/>
                <a:cs typeface="Times New Roman"/>
              </a:rPr>
              <a:t> • Efficient storage and querying through Parquet columnar    format</a:t>
            </a:r>
            <a:br>
              <a:rPr lang="en-US" sz="2000">
                <a:latin typeface="Times New Roman"/>
                <a:ea typeface="+mn-lt"/>
                <a:cs typeface="Times New Roman"/>
              </a:rPr>
            </a:br>
            <a:r>
              <a:rPr lang="en-US" sz="2000">
                <a:latin typeface="Times New Roman"/>
                <a:ea typeface="+mn-lt"/>
                <a:cs typeface="Times New Roman"/>
              </a:rPr>
              <a:t> • Large-scale statistical analysis using Spark MLlib</a:t>
            </a:r>
            <a:br>
              <a:rPr lang="en-US" sz="2000">
                <a:latin typeface="Times New Roman"/>
                <a:ea typeface="+mn-lt"/>
                <a:cs typeface="Times New Roman"/>
              </a:rPr>
            </a:br>
            <a:r>
              <a:rPr lang="en-US" sz="2000">
                <a:latin typeface="Times New Roman"/>
                <a:ea typeface="+mn-lt"/>
                <a:cs typeface="Times New Roman"/>
              </a:rPr>
              <a:t> • Carbon-aware workload scheduling using Spark SQL</a:t>
            </a:r>
            <a:endParaRPr lang="en-US" sz="2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latin typeface="Times New Roman"/>
                <a:ea typeface="+mn-lt"/>
                <a:cs typeface="Times New Roman"/>
              </a:rPr>
              <a:t>Result:</a:t>
            </a:r>
            <a:br>
              <a:rPr lang="en-US" sz="2000">
                <a:latin typeface="Times New Roman"/>
                <a:ea typeface="+mn-lt"/>
                <a:cs typeface="Times New Roman"/>
              </a:rPr>
            </a:br>
            <a:r>
              <a:rPr lang="en-US" sz="2000">
                <a:latin typeface="Times New Roman"/>
                <a:ea typeface="+mn-lt"/>
                <a:cs typeface="Times New Roman"/>
              </a:rPr>
              <a:t> The proposed approach enables more energy-efficient data center operations and supports sustainable cloud computing practices.</a:t>
            </a:r>
            <a:endParaRPr lang="en-US" sz="2000">
              <a:latin typeface="Times New Roman"/>
              <a:cs typeface="Times New Roman"/>
            </a:endParaRPr>
          </a:p>
          <a:p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0653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3A8BE7-E4C4-93BF-5ACB-595161FD39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716" y="955309"/>
            <a:ext cx="7074568" cy="2898975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rgbClr val="FFFFFF"/>
                </a:solidFill>
                <a:latin typeface="Times New Roman"/>
                <a:cs typeface="Times New Roman"/>
              </a:rPr>
              <a:t>THANK YOU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48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GreenCluster: Carbon-Aware Workload Scheduling using Big Data Analytics</vt:lpstr>
      <vt:lpstr>INTRODUCTION </vt:lpstr>
      <vt:lpstr>Problem Statement</vt:lpstr>
      <vt:lpstr>Objective</vt:lpstr>
      <vt:lpstr>Dataset Overview</vt:lpstr>
      <vt:lpstr>Dataset Overview</vt:lpstr>
      <vt:lpstr>Literature Review</vt:lpstr>
      <vt:lpstr>Comparison</vt:lpstr>
      <vt:lpstr>Big data tools used</vt:lpstr>
      <vt:lpstr>Big data tools used</vt:lpstr>
      <vt:lpstr>System Architecture</vt:lpstr>
      <vt:lpstr>Methodology</vt:lpstr>
      <vt:lpstr>Methodology</vt:lpstr>
      <vt:lpstr>Spark ETL Processing</vt:lpstr>
      <vt:lpstr>Big Data Analytics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Mounindra Pullepu</dc:creator>
  <cp:revision>33</cp:revision>
  <dcterms:created xsi:type="dcterms:W3CDTF">2026-03-05T18:06:28Z</dcterms:created>
  <dcterms:modified xsi:type="dcterms:W3CDTF">2026-03-10T18:53:57Z</dcterms:modified>
</cp:coreProperties>
</file>