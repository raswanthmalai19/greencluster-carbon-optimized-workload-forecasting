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900" i="0">
                <a:solidFill>
                  <a:srgbClr val="3B82F6"/>
                </a:solidFill>
              </a:rPr>
              <a:t>BIG DATA ANALYTICS  ·  TIME SERIES ANALYSIS  ·  SUSTAINABLE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4000" i="0">
                <a:solidFill>
                  <a:srgbClr val="FFFFFF"/>
                </a:solidFill>
              </a:rPr>
              <a:t>Carbon-Aware Data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3200" i="0">
                <a:solidFill>
                  <a:srgbClr val="3B82F6"/>
                </a:solidFill>
              </a:rPr>
              <a:t>Scheduling with Uncertainty Quantification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 i="0">
                <a:solidFill>
                  <a:srgbClr val="94A3B8"/>
                </a:solidFill>
              </a:rPr>
              <a:t>Distributed ETL  ·  Workload Forecasting  ·  Carbon Optimization  ·  Conformal Prediction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429000"/>
            <a:ext cx="1124712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F1F5F9"/>
                </a:solidFill>
              </a:rPr>
              <a:t>📊  Dataset:  Alibaba Cluster Trace v2018  —  ~95 Million Rows  ·  3.4 GB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94A3B8"/>
                </a:solidFill>
              </a:rPr>
              <a:t>Course: Big Data Analytics (BDA)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94A3B8"/>
                </a:solidFill>
              </a:rPr>
              <a:t>Framework: Apache Spark  ·  PyTorch  ·  MAPIE  ·  Streamlit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5394960"/>
            <a:ext cx="1737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3B82F6"/>
                </a:solidFill>
              </a:rPr>
              <a:t>95M Rows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331720" y="5394960"/>
            <a:ext cx="17373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23160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10B981"/>
                </a:solidFill>
              </a:rPr>
              <a:t>10 Machines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5394960"/>
            <a:ext cx="17373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79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F59E0B"/>
                </a:solidFill>
              </a:rPr>
              <a:t>8 Days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59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80759" y="5394960"/>
            <a:ext cx="17373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199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8B5CF6"/>
                </a:solidFill>
              </a:rPr>
              <a:t>4 Models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5394960"/>
            <a:ext cx="17373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19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EF4444"/>
                </a:solidFill>
              </a:rPr>
              <a:t>3 Schedulers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5394960"/>
            <a:ext cx="1737360" cy="64008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5394960"/>
            <a:ext cx="1737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54681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000" i="0">
                <a:solidFill>
                  <a:srgbClr val="3B82F6"/>
                </a:solidFill>
              </a:rPr>
              <a:t>12-Page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64748B"/>
                </a:solidFill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Presentation 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End-to-end BDA + TSA project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3990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3B82F6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Introduction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The carbon crisis in cloud computing — why data centers 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39903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0B981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38988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37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Defining the scheduling gap + research objectives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21991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2951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F59E0B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2859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Dataset &amp;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633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Alibaba Cluster Trace v2018 — schema, scale, pipeline overview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21991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9088" y="2295144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8B5CF6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228599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Big Data ETL with Apache Spark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2633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Schema enforcement, data cleaning, bucketing, Parquet export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118104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1912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3B82F6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182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Time Series Reconstruction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529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Wide pivot, imputation, synthetic carbon signal, Min-Max scaling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18104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191256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0B981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1821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Statistical Diagnostics (TSA)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352958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ADF, STL decomposition, ACF/PACF, kurtosis analysis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014215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087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F59E0B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0782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Forecasting Models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4256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SARIMAX · XGBoost / RF · LSTM — training, evaluation, comparison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014215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19088" y="4087368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8B5CF6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07822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Conformal Prediction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2569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Distribution-free uncertainty quantification — the research novelty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910328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4983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EF4444"/>
                </a:solidFill>
              </a:rPr>
              <a:t>09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497433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Carbon-Aware Scheduling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" y="53218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Three strategies + Pareto trade-off analysis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09360" y="4910328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9088" y="498348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3B82F6"/>
                </a:solidFill>
              </a:rPr>
              <a:t>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497433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Results &amp; Key Findings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3218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Model accuracy, CO₂ savings, Pareto front, dashboard demo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5806440"/>
            <a:ext cx="5577840" cy="77724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66928" y="5879592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0B981"/>
                </a:solidFill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587044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Introduction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The environmental cost of modern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760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The Data Center Carbon Problem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Data centers consume ~1–2% of global electricity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ICT sector responsible for ~2–3% of global CO₂ emissions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Electricity grids vary in carbon intensity by 4–6× across the day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Traditional schedulers run jobs as they arrive — ignoring grid carbon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The Opportunity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20–30% of workloads are delay-tolerant batch jobs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Shifting batch tasks to 'green windows' (low CI) cuts CO₂ with zero hardware cost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Forecasting CI + workload enables proactive, intelligent scheduling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Conformal Prediction adds statistically rigorous safety margins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417320"/>
            <a:ext cx="25603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417320"/>
            <a:ext cx="25603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490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200+ TWh/yr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Global Data Center Energy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0" y="1417320"/>
            <a:ext cx="25603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35440" y="1417320"/>
            <a:ext cx="256032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49047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4–6× daily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Carbon Intensity Variability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2606040"/>
            <a:ext cx="25603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2606040"/>
            <a:ext cx="25603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2679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20–30%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Batch Job 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35440" y="2606040"/>
            <a:ext cx="2560320" cy="100584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35440" y="2606040"/>
            <a:ext cx="25603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600" y="267919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5–15%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31546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Potential CO₂ Reduction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3794760"/>
            <a:ext cx="5303520" cy="1371600"/>
          </a:xfrm>
          <a:prstGeom prst="rect">
            <a:avLst/>
          </a:prstGeom>
          <a:solidFill>
            <a:srgbClr val="1A253B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388620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1">
                <a:solidFill>
                  <a:srgbClr val="F1F5F9"/>
                </a:solidFill>
              </a:rPr>
              <a:t>"The future of sustainable cloud computing lies not in building greener hardware, but in scheduling smarter."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263640"/>
            <a:ext cx="11338560" cy="457200"/>
          </a:xfrm>
          <a:prstGeom prst="rect">
            <a:avLst/>
          </a:prstGeom>
          <a:solidFill>
            <a:srgbClr val="0D1A2E"/>
          </a:solidFill>
          <a:ln w="38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3B82F6"/>
                </a:solidFill>
              </a:rPr>
              <a:t>Goal: Build an end-to-end pipeline from raw Alibaba telemetry to a carbon-aware scheduler with rigorous uncertainty quantification.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Defining the research gap and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EF4444"/>
                </a:solidFill>
              </a:rPr>
              <a:t>The Core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Existing scheduling policies operate carbon-blind (FIFO, SJF)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No awareness of temporal variation in grid carbon intensity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Point forecasts used without uncertainty → SLA violations or over-provisioning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Big data scale makes real-time analytics computationally infeasible without distributed processing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No unified framework combining: distributed ETL + TSA diagnostics + ML forecasting + UQ +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846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EF4444"/>
                </a:solidFill>
              </a:rPr>
              <a:t>Research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257800"/>
            <a:ext cx="5303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RO1: Scalable ETL for 95M-row telemetry using Apache Spark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RO2: Characterise workload patterns via rigorous TSA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RO3: Evaluate SARIMAX vs XGBoost vs LSTM for CPU/CI forecasting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RO4: Apply Conformal Prediction for distribution-free UQ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RO5: Quantify CO₂ reduction via carbon-aware scheduling simulation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53949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3B82F6"/>
                </a:solidFill>
              </a:rPr>
              <a:t>Formal Optimization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1F5F9"/>
                </a:solidFill>
              </a:rPr>
              <a:t>Minimize total carbon emissions: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77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F59E0B"/>
                </a:solidFill>
              </a:rPr>
              <a:t>min  C_total = Σ κ_t · (P_idle + P_dyn · u_t)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94A3B8"/>
                </a:solidFill>
              </a:rPr>
              <a:t>Subject to: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918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u_t ≤ u_max = 85%  (capacity constraint)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All batch jobs complete within deadline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Online (latency-sensitive) tasks run immediately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Forecast uncertainty margin: CPU_upper &lt; u_max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94A3B8"/>
                </a:solidFill>
              </a:rPr>
              <a:t>Power Model: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5394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10B981"/>
                </a:solidFill>
              </a:rPr>
              <a:t>P(u) = P_idle + (P_max − P_idle) · 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5806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  P_idle = 200W,  P_max = 400W,  1,000 servers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Dataset &amp;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Alibaba Cluster Trace v2018 — 3.4 GB of real production telemetry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1945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9456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~95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Total Rows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371600"/>
            <a:ext cx="21945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40" y="1371600"/>
            <a:ext cx="219456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4447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3.4 GB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File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12080" y="1371600"/>
            <a:ext cx="21945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371600"/>
            <a:ext cx="219456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4447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8 Days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Duration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371600"/>
            <a:ext cx="219456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89520" y="1371600"/>
            <a:ext cx="219456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26680" y="14447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5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92024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Sample Interval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66960" y="1371600"/>
            <a:ext cx="2103120" cy="96012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966960" y="1371600"/>
            <a:ext cx="210312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04120" y="1444752"/>
            <a:ext cx="182879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9 Sensors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1920240"/>
            <a:ext cx="18287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Metrics / Row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514600"/>
            <a:ext cx="228600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" y="256032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Column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2514600"/>
            <a:ext cx="429768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256032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Description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2514600"/>
            <a:ext cx="1280160" cy="347472"/>
          </a:xfrm>
          <a:prstGeom prst="rect">
            <a:avLst/>
          </a:prstGeom>
          <a:solidFill>
            <a:srgbClr val="3B82F6"/>
          </a:solidFill>
          <a:ln w="381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296912" y="256032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Type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62072"/>
            <a:ext cx="228600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2907791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machine_id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2862072"/>
            <a:ext cx="429768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07792" y="2907791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Unique server identifier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23760" y="2862072"/>
            <a:ext cx="128016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96912" y="2907791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09544"/>
            <a:ext cx="228600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3255263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time_stamp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834640" y="3209544"/>
            <a:ext cx="429768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07792" y="3255263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Seconds since dataset epoch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23760" y="3209544"/>
            <a:ext cx="128016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296912" y="3255263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Long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557016"/>
            <a:ext cx="228600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30352" y="3602736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cpu_util_percent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3557016"/>
            <a:ext cx="429768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07792" y="3602736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CPU utilization (%)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223760" y="3557016"/>
            <a:ext cx="128016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96912" y="360273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3904487"/>
            <a:ext cx="228600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" y="3950207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mem_util_percent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834640" y="3904487"/>
            <a:ext cx="429768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07792" y="3950207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Memory utilization (%)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23760" y="3904487"/>
            <a:ext cx="128016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96912" y="3950207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251960"/>
            <a:ext cx="228600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30352" y="4297680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mem_gps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834640" y="4251960"/>
            <a:ext cx="429768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07792" y="4297680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Memory bandwidth (GB/s)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23760" y="4251960"/>
            <a:ext cx="128016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296912" y="42976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599432"/>
            <a:ext cx="228600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30352" y="4645152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mkpi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834640" y="4599432"/>
            <a:ext cx="429768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907792" y="4645152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Cache misses per 1000 instructions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223760" y="4599432"/>
            <a:ext cx="128016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296912" y="4645152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4946904"/>
            <a:ext cx="228600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30352" y="4992624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net_in / net_out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834640" y="4946904"/>
            <a:ext cx="429768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907792" y="4992624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Network traffic (in/out)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223760" y="4946904"/>
            <a:ext cx="1280160" cy="347472"/>
          </a:xfrm>
          <a:prstGeom prst="rect">
            <a:avLst/>
          </a:prstGeom>
          <a:solidFill>
            <a:srgbClr val="111827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296912" y="4992624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294376"/>
            <a:ext cx="228600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30352" y="5340096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59E0B"/>
                </a:solidFill>
              </a:rPr>
              <a:t>disk_io_percent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834640" y="5294376"/>
            <a:ext cx="429768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907792" y="5340096"/>
            <a:ext cx="415137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Disk I/O utilization (%)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223760" y="5294376"/>
            <a:ext cx="1280160" cy="347472"/>
          </a:xfrm>
          <a:prstGeom prst="rect">
            <a:avLst/>
          </a:prstGeom>
          <a:solidFill>
            <a:srgbClr val="141F32"/>
          </a:solidFill>
          <a:ln w="254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296912" y="5340096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Double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57200" y="5166360"/>
            <a:ext cx="160020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521208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94A3B8"/>
                </a:solidFill>
              </a:rPr>
              <a:t>01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8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Raw CSV
3.4 GB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21208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Alibaba
Telemetry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066543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139696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139696" y="5166360"/>
            <a:ext cx="16002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03703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203703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Spark ETL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203703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Clean &amp;
Aggregate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749039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22191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822191" y="5166360"/>
            <a:ext cx="1600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886200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10B981"/>
                </a:solidFill>
              </a:rPr>
              <a:t>03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886200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Parquet
Subset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886200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10 Machines
Selected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5431536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04688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504688" y="5166360"/>
            <a:ext cx="1600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568696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568696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TSA
Diagnostics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568696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ADF · STL
ACF/PACF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114032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187184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7187184" y="5166360"/>
            <a:ext cx="1600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251192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8B5CF6"/>
                </a:solidFill>
              </a:rPr>
              <a:t>05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251192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Forecast
Models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51192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SARIMAX
XGB · LSTM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796528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869680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8869680" y="5166360"/>
            <a:ext cx="160020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933688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EF4444"/>
                </a:solidFill>
              </a:rPr>
              <a:t>06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933688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Conformal
Prediction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8933688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95% PI
Guaranteed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479024" y="562356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94A3B8"/>
                </a:solidFill>
              </a:rPr>
              <a:t>→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552176" y="5166360"/>
            <a:ext cx="1600200" cy="14630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10552176" y="5166360"/>
            <a:ext cx="1600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616184" y="52395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10B981"/>
                </a:solidFill>
              </a:rPr>
              <a:t>07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616184" y="5678424"/>
            <a:ext cx="1463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Carbon
Scheduler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616184" y="6080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CO₂
Reduction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Big Data ETL — Apache Spark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Distributed ingestion, cleaning, temporal bucketing, and Parquet export (Notebook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3B82F6"/>
                </a:solidFill>
              </a:rPr>
              <a:t>Why Apache Spark?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95M rows × 9 columns → too large for Pandas in RAM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Distributed in-memory processing on local[*] (all CPU cores)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8 GB driver + 4 GB executor memory configuration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16 shuffle partitions for optimal task parallelism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Columnar Parquet output: 5–10× disk compression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Schema-on-read enforcement: zero silent type mismatches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25196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3B82F6"/>
                </a:solidFill>
              </a:rPr>
              <a:t>ETL Pipeline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0916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1. Load CSV with strict schema → 95M rows in ~minutes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2. Profile: null counts + sensor validity per column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3. Scrub: replace -1 and &gt;100 with null (sensor faults)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4. Temporal bucketing: floor(timestamp / 300) × 300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5. Aggregate: mean per (machine_id, ts_bucket)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6. Rank machines by completeness → top 10 selected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7. Export Parquet (partitioned by machine_id)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10B981"/>
                </a:solidFill>
              </a:rPr>
              <a:t>ETL Summary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394960" cy="402336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965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Total rows (raw)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19659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~95,000,000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2331720"/>
            <a:ext cx="5394960" cy="402336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23774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Distinct machines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2377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~4,000+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2743200"/>
            <a:ext cx="5394960" cy="402336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7889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Rows after ID cleaning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2788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~95M (IDs intact)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154680"/>
            <a:ext cx="5394960" cy="402336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37960" y="32004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Aggregated rows (all machines)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0" y="32004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~8,000,000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3566160"/>
            <a:ext cx="5394960" cy="402336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Compression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36118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~12x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977639"/>
            <a:ext cx="5394960" cy="402336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0233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Distinct time buckets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~2,300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389120"/>
            <a:ext cx="5394960" cy="402336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Duration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44348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8 days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4800600"/>
            <a:ext cx="5394960" cy="402336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484632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Selected machines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0" y="48463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10 (top completeness)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5212080"/>
            <a:ext cx="5394960" cy="402336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52578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Subset rows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525780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~23,000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5623560"/>
            <a:ext cx="5394960" cy="402336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60" y="5669279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Invalid sensor readings found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58400" y="5669279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cpu/mem/disk &gt;100 &amp; &lt;0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5989320"/>
            <a:ext cx="5394960" cy="457200"/>
          </a:xfrm>
          <a:prstGeom prst="rect">
            <a:avLst/>
          </a:prstGeom>
          <a:solidFill>
            <a:srgbClr val="0D1A2E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605332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💡  Invalid readings replaced with null — preserving timestamp continuity for imputation.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Time Series Reconstruction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Wide pivot, temporal imputation, synthetic carbon signal, and Min-Max scaling (Notebook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F59E0B"/>
                </a:solidFill>
              </a:rPr>
              <a:t>From Parquet → Structured Time Series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Step 1: Datetime Index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Anchor epoch: 2018-01-01 (Alibaba v2018 trace)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ts_bucket → proper DatetimeIndex at 5-min intervals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Step 2: Wide Pivot (Long → Wide Matrix)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From: (datetime, machine_id, metric_value)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To: (datetime) × (cpu_m1, cpu_m2, ..., mem_m1, ...)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Cluster averages added for all 5 metric types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Step 3: Forward-Fill Imputation (LOCF)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NaN gaps filled: forward-fill then backward-fill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Preserves temporal continuity for LSTM sequences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</a:t>
            </a:r>
          </a:p>
          <a:p>
            <a:pPr>
              <a:spcBef>
                <a:spcPts val="400"/>
              </a:spcBef>
            </a:pPr>
            <a:r>
              <a:rPr b="1" sz="1600">
                <a:solidFill>
                  <a:srgbClr val="3B82F6"/>
                </a:solidFill>
              </a:rPr>
              <a:t>Step 5: Min-Max Normalization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x_scaled = (x - x_min) / (x_max - x_min)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All features scaled to [0, 1] — prevents gradient explosion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Scaler parameters saved for inverse transform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10B981"/>
                </a:solidFill>
              </a:rPr>
              <a:t>Synthetic Carbon Intensity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Modeled after California CAISO-style solar-heavy grid: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377440"/>
            <a:ext cx="5120640" cy="585216"/>
          </a:xfrm>
          <a:prstGeom prst="rect">
            <a:avLst/>
          </a:prstGeom>
          <a:solidFill>
            <a:srgbClr val="0D1A2E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42316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10B981"/>
                </a:solidFill>
              </a:rPr>
              <a:t>☀️  Midday 10:00–16:00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Low CI: 150–250 gCO₂/kWh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65176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1">
                <a:solidFill>
                  <a:srgbClr val="94A3B8"/>
                </a:solidFill>
              </a:rPr>
              <a:t>(solar peak)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035808"/>
            <a:ext cx="5120640" cy="585216"/>
          </a:xfrm>
          <a:prstGeom prst="rect">
            <a:avLst/>
          </a:prstGeom>
          <a:solidFill>
            <a:srgbClr val="0D1A2E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081528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EF4444"/>
                </a:solidFill>
              </a:rPr>
              <a:t>🌆  Evening 17:00–22:00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1012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High CI: 450–600 gCO₂/kWh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3310128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1">
                <a:solidFill>
                  <a:srgbClr val="94A3B8"/>
                </a:solidFill>
              </a:rPr>
              <a:t>(gas peakers)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3694176"/>
            <a:ext cx="5120640" cy="585216"/>
          </a:xfrm>
          <a:prstGeom prst="rect">
            <a:avLst/>
          </a:prstGeom>
          <a:solidFill>
            <a:srgbClr val="0D1A2E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3739896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59E0B"/>
                </a:solidFill>
              </a:rPr>
              <a:t>🌙  Night 22:00–06:00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96849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Medium CI: 350–450 gCO₂/kWh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968496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1">
                <a:solidFill>
                  <a:srgbClr val="94A3B8"/>
                </a:solidFill>
              </a:rPr>
              <a:t>(baseload mix)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4352544"/>
            <a:ext cx="5120640" cy="585216"/>
          </a:xfrm>
          <a:prstGeom prst="rect">
            <a:avLst/>
          </a:prstGeom>
          <a:solidFill>
            <a:srgbClr val="0D1A2E"/>
          </a:solidFill>
          <a:ln w="50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4398264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8B5CF6"/>
                </a:solidFill>
              </a:rPr>
              <a:t>📅  Weekends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4626864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~40 gCO₂/kWh lower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4626864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1">
                <a:solidFill>
                  <a:srgbClr val="94A3B8"/>
                </a:solidFill>
              </a:rPr>
              <a:t>(less industrial)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94A3B8"/>
                </a:solidFill>
              </a:rPr>
              <a:t>Signal properties: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4924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Mean ≈ 380 gCO₂/kWh | Std ≈ 85 | Range: [100, 700]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AR(1) noise (ρ=0.85) — realistic autocorrelated variation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Joined with server metrics on DatetimeIndex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Statistical Diagnostics — TSA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Proving the data contains predictable, exploitable patterns (Notebook 3)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6928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3B82F6"/>
                </a:solidFill>
              </a:rPr>
              <a:t>ADF Stationarity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H0: series has unit root (non-stationary)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p-value &lt; 0.05 → reject H0 → stationary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CPU Cluster Avg: STATIONARY ✓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Carbon Intensity: STATIONARY ✓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After 1st-order diff: both confirmed stationary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→ Informs ARIMA integration order d=1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66928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66928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10B981"/>
                </a:solidFill>
              </a:rPr>
              <a:t>STL Decomposition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87451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Period = 288 steps = 24 hours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y_t = Trend_t + Seasonal_t + Residual_t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CPU Seasonal Strength (Fs): 0.75+ (strong)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CI Seasonal Strength (Fs): 0.82+ (strong)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Fs &gt; 0.64 → strong seasonality confirmed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→ Justifies SARIMAX seasonal order s=24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77639"/>
            <a:ext cx="566928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77639"/>
            <a:ext cx="566928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690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F59E0B"/>
                </a:solidFill>
              </a:rPr>
              <a:t>ACF / PACF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8055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ACF lag 1 (5 min): ~0.97  (strong persistence)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ACF lag 12 (1 hr): ~0.88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ACF lag 144 (12 hr): ~0.65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ACF lag 288 (24 hr): ~0.82  ← strong diurnal spike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PACF cuts off quickly → AR order p=2–3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→ LSTM needs ≥24h context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3977639"/>
            <a:ext cx="5669280" cy="246888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3977639"/>
            <a:ext cx="566928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4069079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8B5CF6"/>
                </a:solidFill>
              </a:rPr>
              <a:t>Distribution &amp; Kurtosis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4480559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CPU Cluster: near-normal distribution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Individual machines: heavy-tailed (kurtosis &gt; 3)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Positive skewness → micro-burst spikes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High kurtosis → outlier episodes from batch jobs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Justifies non-linear models (XGBoost, LSTM)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→ Linear SARIMAX will underfit spikes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Forecasting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Three paradigms trained on Alibaba workload traces (Notebook 4)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754880"/>
          </a:xfrm>
          <a:prstGeom prst="rect">
            <a:avLst/>
          </a:prstGeom>
          <a:solidFill>
            <a:srgbClr val="111827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3B82F6"/>
                </a:solidFill>
              </a:rPr>
              <a:t>SARIMAX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1">
                <a:solidFill>
                  <a:srgbClr val="94A3B8"/>
                </a:solidFill>
              </a:rPr>
              <a:t>Statistical / Linear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0280"/>
            <a:ext cx="33832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3317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SARIMA(2,1,1)(1,1,1,24) on hourly data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Exogenous variable: Carbon Intensity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Non-seasonal: (p,d,q) = (2,1,1)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Seasonal: (P,D,Q,s) = (1,1,1,24)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Resampled to 1h (5-min s=288 infeasible)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Interpretable coefficients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Baseline for comparison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49240"/>
            <a:ext cx="3657600" cy="640080"/>
          </a:xfrm>
          <a:prstGeom prst="rect">
            <a:avLst/>
          </a:prstGeom>
          <a:solidFill>
            <a:srgbClr val="0D1A2E"/>
          </a:solidFill>
          <a:ln w="38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5394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Strength: Explainability
Weakness: Linear → misses spikes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371600"/>
            <a:ext cx="3657600" cy="4754880"/>
          </a:xfrm>
          <a:prstGeom prst="rect">
            <a:avLst/>
          </a:prstGeom>
          <a:solidFill>
            <a:srgbClr val="111827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444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10B981"/>
                </a:solidFill>
              </a:rPr>
              <a:t>XGBoost + Random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1">
                <a:solidFill>
                  <a:srgbClr val="94A3B8"/>
                </a:solidFill>
              </a:rPr>
              <a:t>ML Ensemble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2240280"/>
            <a:ext cx="33832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3317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Lag features: 1,2,3,6,12,288 (yesterday)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Rolling mean/std over 12 &amp; 48 steps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Calendar: hour, minute, day-of-week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Exogenous: carbon intensity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XGB: 500 trees, depth 6, LR 0.05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RF: 300 trees, depth 10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Early stopping on validation set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80" y="5349240"/>
            <a:ext cx="3657600" cy="640080"/>
          </a:xfrm>
          <a:prstGeom prst="rect">
            <a:avLst/>
          </a:prstGeom>
          <a:solidFill>
            <a:srgbClr val="0D1A2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5394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Strength: Non-linear, handles spikes
Weakness: No sequential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57600" cy="4754880"/>
          </a:xfrm>
          <a:prstGeom prst="rect">
            <a:avLst/>
          </a:prstGeom>
          <a:solidFill>
            <a:srgbClr val="111827"/>
          </a:solidFill>
          <a:ln w="76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37160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44475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600" i="0">
                <a:solidFill>
                  <a:srgbClr val="8B5CF6"/>
                </a:solidFill>
              </a:rPr>
              <a:t>LSTM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192024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1">
                <a:solidFill>
                  <a:srgbClr val="94A3B8"/>
                </a:solidFill>
              </a:rPr>
              <a:t>Deep Learning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2240280"/>
            <a:ext cx="3383280" cy="2743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331720"/>
            <a:ext cx="3383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Architecture: LSTM(64) → LSTM(32) → Dense(1)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Sequence length: 48 steps (4 hours)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Input features: CPU + Carbon Intensity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Optimizer: Adam, LR=0.001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Dropout 0.2 for regularization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Gradient clipping (max_norm=1.0)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Early stopping (patience=8)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60" y="5349240"/>
            <a:ext cx="3657600" cy="640080"/>
          </a:xfrm>
          <a:prstGeom prst="rect">
            <a:avLst/>
          </a:prstGeom>
          <a:solidFill>
            <a:srgbClr val="0D1A2E"/>
          </a:solidFill>
          <a:ln w="381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5394960"/>
            <a:ext cx="3429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Strength: Long-range dependencies
Weakness: Slower, needs more data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80760"/>
            <a:ext cx="11338560" cy="621792"/>
          </a:xfrm>
          <a:prstGeom prst="rect">
            <a:avLst/>
          </a:prstGeom>
          <a:solidFill>
            <a:srgbClr val="0D1A2E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6153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 i="0">
                <a:solidFill>
                  <a:srgbClr val="F59E0B"/>
                </a:solidFill>
              </a:rPr>
              <a:t>Data Split:  70% Train  |  15% Validation  |  15% Test    (temporal, no shuffle — respects time order)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Forecasting Results —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Test-set performance on CPU cluster average utilization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192024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463040"/>
            <a:ext cx="17739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80" y="1417320"/>
            <a:ext cx="164592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42032" y="1463040"/>
            <a:ext cx="14996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Granularity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417320"/>
            <a:ext cx="128016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46304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RMSE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1417320"/>
            <a:ext cx="128016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50992" y="146304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MAE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49440" y="1417320"/>
            <a:ext cx="137160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22592" y="1463040"/>
            <a:ext cx="1225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MAPE (%)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1417320"/>
            <a:ext cx="3291840" cy="36576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1463040"/>
            <a:ext cx="31455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Best For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874519"/>
            <a:ext cx="192024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192024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59E0B"/>
                </a:solidFill>
              </a:rPr>
              <a:t>SARIMAX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80" y="1874519"/>
            <a:ext cx="164592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42032" y="1920240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Hourly (1h)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1874519"/>
            <a:ext cx="128016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79392" y="19202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10B981"/>
                </a:solidFill>
              </a:rPr>
              <a:t>~2.8–3.5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577840" y="1874519"/>
            <a:ext cx="128016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50992" y="19202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~2.1–2.6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1874519"/>
            <a:ext cx="137160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22592" y="192024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~8–12%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1874519"/>
            <a:ext cx="329184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19202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Trend + seasonality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2331720"/>
            <a:ext cx="192024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237744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10B981"/>
                </a:solidFill>
              </a:rPr>
              <a:t>Random Forest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68880" y="2331720"/>
            <a:ext cx="164592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542032" y="2377440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5-min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331720"/>
            <a:ext cx="128016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9392" y="23774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10B981"/>
                </a:solidFill>
              </a:rPr>
              <a:t>~1.9–2.4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2331720"/>
            <a:ext cx="128016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50992" y="23774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~1.4–1.8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49440" y="2331720"/>
            <a:ext cx="137160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22592" y="237744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~5–8%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12480" y="2331720"/>
            <a:ext cx="329184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85632" y="23774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Robust baseline ML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2788920"/>
            <a:ext cx="192024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0352" y="283464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3B82F6"/>
                </a:solidFill>
              </a:rPr>
              <a:t>XGBoost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2788920"/>
            <a:ext cx="164592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542032" y="2834640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5-min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2788920"/>
            <a:ext cx="128016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79392" y="28346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10B981"/>
                </a:solidFill>
              </a:rPr>
              <a:t>~1.5–2.0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577840" y="2788920"/>
            <a:ext cx="128016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650992" y="28346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~1.1–1.5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2788920"/>
            <a:ext cx="137160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22592" y="283464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~4–6%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412480" y="2788920"/>
            <a:ext cx="3291840" cy="438912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85632" y="28346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Best ML: spike capture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3246120"/>
            <a:ext cx="192024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30352" y="3291840"/>
            <a:ext cx="17739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8B5CF6"/>
                </a:solidFill>
              </a:rPr>
              <a:t>LSTM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246120"/>
            <a:ext cx="164592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42032" y="3291840"/>
            <a:ext cx="14996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5-min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3246120"/>
            <a:ext cx="128016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79392" y="32918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10B981"/>
                </a:solidFill>
              </a:rPr>
              <a:t>~1.4–1.9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577840" y="3246120"/>
            <a:ext cx="128016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650992" y="3291840"/>
            <a:ext cx="11338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~1.0–1.4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949440" y="3246120"/>
            <a:ext cx="137160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022592" y="3291840"/>
            <a:ext cx="12252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10B981"/>
                </a:solidFill>
              </a:rPr>
              <a:t>~4–6%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12480" y="3246120"/>
            <a:ext cx="3291840" cy="438912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85632" y="3291840"/>
            <a:ext cx="3145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Long-range dependencies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3794760"/>
            <a:ext cx="11338560" cy="269748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10B981"/>
                </a:solidFill>
              </a:rPr>
              <a:t>Key Findings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XGBoost is the best practical model: fastest training, interpretable feature importances, strong MAPE on spiky 5-min data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92240" y="4297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LSTM achieves similar accuracy with long-range dependencies but requires ~5× longer training time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892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SARIMAX confirms the diurnal seasonality hypothesis but linear assumption limits spike prediction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92240" y="48920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Top feature importance (XGBoost): lag_288 (yesterday's value), lag_1, rolling_mean_12, hour-of-day, carbon_intensity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008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All models significantly outperform naive persistence baseline (MAPE ~15%)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49224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▸  XGBoost test predictions are used as input to the carbon-aware scheduling engine (Notebook 5)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Conformal Prediction — Uncertainty Quantification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Distribution-free prediction intervals with guaranteed coverage (Notebook 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8B5CF6"/>
                </a:solidFill>
              </a:rPr>
              <a:t>The Research Novelty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Existing carbon-aware schedulers use POINT forecasts — treated as ground truth.
Conformal Prediction provides mathematically guaranteed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59E0B"/>
                </a:solidFill>
              </a:rPr>
              <a:t>Split Conformal Algorithm: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1. Train base XGBoost on 60% training set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2. Calibration set: 25% of data (held out)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3. Compute nonconformity scores: sᵢ = |yᵢ - ŷᵢ|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4. Q = quantile(scores, 1-α) on calibration set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5. Interval: [ŷ - Q, ŷ + Q] on test 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892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10B981"/>
                </a:solidFill>
              </a:rPr>
              <a:t>Key Guarantee: P(y_{t+h} ∈ [L_t, U_t]) ≥ 1-α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3035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1">
                <a:solidFill>
                  <a:srgbClr val="94A3B8"/>
                </a:solidFill>
              </a:rPr>
              <a:t>This holds without ANY distributional assumptions.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3B82F6"/>
                </a:solidFill>
              </a:rPr>
              <a:t>MAPIE Library: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035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94A3B8"/>
                </a:solidFill>
              </a:rPr>
              <a:t>CrossConformalRegressor with Jackknife+ method (5-fold CV)
for adaptive interval widths and production-grade implementation.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10B981"/>
                </a:solidFill>
              </a:rPr>
              <a:t>Coverage Results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1920240"/>
            <a:ext cx="2743200" cy="347472"/>
          </a:xfrm>
          <a:prstGeom prst="rect">
            <a:avLst/>
          </a:prstGeom>
          <a:solidFill>
            <a:srgbClr val="8B5C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56248" y="1965960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1920240"/>
            <a:ext cx="1005840" cy="347472"/>
          </a:xfrm>
          <a:prstGeom prst="rect">
            <a:avLst/>
          </a:prstGeom>
          <a:solidFill>
            <a:srgbClr val="8B5C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90888" y="1965960"/>
            <a:ext cx="868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78440" y="1920240"/>
            <a:ext cx="1097280" cy="347472"/>
          </a:xfrm>
          <a:prstGeom prst="rect">
            <a:avLst/>
          </a:prstGeom>
          <a:solidFill>
            <a:srgbClr val="8B5C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42448" y="196596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Empirical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521440" y="1920240"/>
            <a:ext cx="1097280" cy="347472"/>
          </a:xfrm>
          <a:prstGeom prst="rect">
            <a:avLst/>
          </a:prstGeom>
          <a:solidFill>
            <a:srgbClr val="8B5C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585448" y="196596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Avg Width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359152"/>
            <a:ext cx="274320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2404872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B5CF6"/>
                </a:solidFill>
              </a:rPr>
              <a:t>Split Conformal 90%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0" y="2359152"/>
            <a:ext cx="100584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2404872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90%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78440" y="2359152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2448" y="2404872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91.2%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521440" y="2359152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585448" y="2404872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~3.8%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2798064"/>
            <a:ext cx="274320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2843784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B5CF6"/>
                </a:solidFill>
              </a:rPr>
              <a:t>Split Conformal 95%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26880" y="2798064"/>
            <a:ext cx="100584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90888" y="2843784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95%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78440" y="2798064"/>
            <a:ext cx="109728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2448" y="2843784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95.6%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521440" y="2798064"/>
            <a:ext cx="109728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585448" y="2843784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~5.1%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3236976"/>
            <a:ext cx="274320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56248" y="3282696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B5CF6"/>
                </a:solidFill>
              </a:rPr>
              <a:t>Split Conformal 99%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326880" y="3236976"/>
            <a:ext cx="100584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390888" y="3282696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99%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78440" y="3236976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442448" y="3282696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99.1%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521440" y="3236976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585448" y="3282696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~8.2%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3675887"/>
            <a:ext cx="274320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56248" y="3721608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B5CF6"/>
                </a:solidFill>
              </a:rPr>
              <a:t>MAPIE Jackknife+ 90%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26880" y="3675887"/>
            <a:ext cx="100584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390888" y="3721608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90%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78440" y="3675887"/>
            <a:ext cx="109728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2448" y="372160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90.8%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521440" y="3675887"/>
            <a:ext cx="1097280" cy="420624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585448" y="3721608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~3.5%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4114800"/>
            <a:ext cx="274320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56248" y="4160520"/>
            <a:ext cx="2606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8B5CF6"/>
                </a:solidFill>
              </a:rPr>
              <a:t>MAPIE Jackknife+ 95%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326880" y="4114800"/>
            <a:ext cx="100584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390888" y="4160520"/>
            <a:ext cx="868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95%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378440" y="4114800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442448" y="4160520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10B981"/>
                </a:solidFill>
              </a:rPr>
              <a:t>95.8%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521440" y="4114800"/>
            <a:ext cx="1097280" cy="420624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585448" y="4160520"/>
            <a:ext cx="960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F1F5F9"/>
                </a:solidFill>
              </a:rPr>
              <a:t>~4.9%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0" y="46634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F59E0B"/>
                </a:solidFill>
              </a:rPr>
              <a:t>Conditional Coverage Analysis: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502920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Coverage verified hourly (all 24 hours of day)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No systematic hour-of-day bias detected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Coverage dips slightly at 07:00–09:00 (morning ramp)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95% CI exported → feeds risk-aware scheduler in NB5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Carbon-Aware Scheduling Simulation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Three strategies compared across 200 batch jobs on 1,000-server cluster (Notebook 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338560" cy="713232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F59E0B"/>
                </a:solidFill>
              </a:rPr>
              <a:t>Power Model: P(u) = P_idle + (P_max − P_idle) · u     [P_idle=200W, P_max=400W, N=1,000 servers]     |  Carbon: C_t = κ_t · P(u_t) · Δt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40280"/>
            <a:ext cx="3657600" cy="4480560"/>
          </a:xfrm>
          <a:prstGeom prst="rect">
            <a:avLst/>
          </a:prstGeom>
          <a:solidFill>
            <a:srgbClr val="111827"/>
          </a:solidFill>
          <a:ln w="762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240280"/>
            <a:ext cx="365760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94A3B8"/>
                </a:solidFill>
              </a:rPr>
              <a:t>Strategy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EF4444"/>
                </a:solidFill>
              </a:rPr>
              <a:t>Carbon-Blind (FIFO)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063240"/>
            <a:ext cx="3383280" cy="274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1546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Run batch jobs immediately at arrival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No awareness of grid carbon intensity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Serves as the baseline for comparison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Avg CI at execution: ~380 gCO₂/kWh (mean)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No delay to any batch jobs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Peak utilization: depends on job arrivals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897880"/>
            <a:ext cx="3657600" cy="749808"/>
          </a:xfrm>
          <a:prstGeom prst="rect">
            <a:avLst/>
          </a:prstGeom>
          <a:solidFill>
            <a:srgbClr val="0D1A2E"/>
          </a:solidFill>
          <a:ln w="381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9710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 i="0">
                <a:solidFill>
                  <a:srgbClr val="EF4444"/>
                </a:solidFill>
              </a:rPr>
              <a:t>BASELINE — no CO₂ reduction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2240280"/>
            <a:ext cx="3657600" cy="4480560"/>
          </a:xfrm>
          <a:prstGeom prst="rect">
            <a:avLst/>
          </a:prstGeom>
          <a:solidFill>
            <a:srgbClr val="111827"/>
          </a:solidFill>
          <a:ln w="76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224028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94A3B8"/>
                </a:solidFill>
              </a:rPr>
              <a:t>Strategy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633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10B981"/>
                </a:solidFill>
              </a:rPr>
              <a:t>Carbon-Aware (Naive)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063240"/>
            <a:ext cx="3383280" cy="274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1546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Scan all valid windows within deadline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Schedule batch job at lowest-CI slot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Greedy: first job, no global optimization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Avg CI at execution: shifted to low-CI hours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Modest delay: avg ~30–60 min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Uses only point forecast (no uncertainty)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897880"/>
            <a:ext cx="3657600" cy="749808"/>
          </a:xfrm>
          <a:prstGeom prst="rect">
            <a:avLst/>
          </a:prstGeom>
          <a:solidFill>
            <a:srgbClr val="0D1A2E"/>
          </a:solidFill>
          <a:ln w="381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59710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 i="0">
                <a:solidFill>
                  <a:srgbClr val="10B981"/>
                </a:solidFill>
              </a:rPr>
              <a:t>~5% CO₂ Reduction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2240280"/>
            <a:ext cx="3657600" cy="4480560"/>
          </a:xfrm>
          <a:prstGeom prst="rect">
            <a:avLst/>
          </a:prstGeom>
          <a:solidFill>
            <a:srgbClr val="111827"/>
          </a:solidFill>
          <a:ln w="76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224028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23317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 i="0">
                <a:solidFill>
                  <a:srgbClr val="94A3B8"/>
                </a:solidFill>
              </a:rPr>
              <a:t>Strategy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2633472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Carbon-Aware (Risk-Aware)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75320" y="3063240"/>
            <a:ext cx="3383280" cy="2743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75320" y="3154680"/>
            <a:ext cx="3383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Find lowest-CI window within deadline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Check: cpu_upper_95 + batch_load &lt; 85%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Conformal 95% PI used as safety margin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Falls back to lowest-CI only if no safe window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Avg CI: further reduced vs Naive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• Prevents SLA violations from forecast errors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5897880"/>
            <a:ext cx="3657600" cy="749808"/>
          </a:xfrm>
          <a:prstGeom prst="rect">
            <a:avLst/>
          </a:prstGeom>
          <a:solidFill>
            <a:srgbClr val="0D1A2E"/>
          </a:solidFill>
          <a:ln w="381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20" y="5971032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300" i="0">
                <a:solidFill>
                  <a:srgbClr val="3B82F6"/>
                </a:solidFill>
              </a:rPr>
              <a:t>~10% CO₂ Reduction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Scheduling Results &amp; Pareto Trade-off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CO₂ savings vs. task delay across varying deadline flexibility levels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338560" cy="457200"/>
          </a:xfrm>
          <a:prstGeom prst="rect">
            <a:avLst/>
          </a:prstGeom>
          <a:solidFill>
            <a:srgbClr val="3B82F6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435608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67912" y="1435608"/>
            <a:ext cx="2048255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Avg CI (gCO₂/kWh)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53912" y="1435608"/>
            <a:ext cx="18653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CO₂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7031" y="1435608"/>
            <a:ext cx="21396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Avg Batch Delay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80192" y="1435608"/>
            <a:ext cx="13167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00" i="0">
                <a:solidFill>
                  <a:srgbClr val="FFFFFF"/>
                </a:solidFill>
              </a:rPr>
              <a:t>Peak Util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320040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6596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EF4444"/>
                </a:solidFill>
              </a:rPr>
              <a:t>Carbon-Blind (FIFO)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94760" y="1920240"/>
            <a:ext cx="219456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67912" y="1965960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~380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1920240"/>
            <a:ext cx="201168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3912" y="196596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10B981"/>
                </a:solidFill>
              </a:rPr>
              <a:t>Baseline (0%)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920240"/>
            <a:ext cx="228600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7031" y="1965960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607040" y="1920240"/>
            <a:ext cx="146304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80192" y="196596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~65%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423160"/>
            <a:ext cx="3200400" cy="475488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46888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10B981"/>
                </a:solidFill>
              </a:rPr>
              <a:t>Carbon-Aware (Naive)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2423160"/>
            <a:ext cx="2194560" cy="475488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2468880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~290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2423160"/>
            <a:ext cx="2011680" cy="475488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53912" y="246888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10B981"/>
                </a:solidFill>
              </a:rPr>
              <a:t>~5.2%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2423160"/>
            <a:ext cx="2286000" cy="475488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7031" y="2468880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~35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607040" y="2423160"/>
            <a:ext cx="1463040" cy="475488"/>
          </a:xfrm>
          <a:prstGeom prst="rect">
            <a:avLst/>
          </a:prstGeom>
          <a:solidFill>
            <a:srgbClr val="141F32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80192" y="246888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~68%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2926080"/>
            <a:ext cx="320040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2971800"/>
            <a:ext cx="30540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3B82F6"/>
                </a:solidFill>
              </a:rPr>
              <a:t>Carbon-Aware (Risk-Aware)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94760" y="2926080"/>
            <a:ext cx="219456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67912" y="2971800"/>
            <a:ext cx="204825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926080"/>
            <a:ext cx="201168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53912" y="2971800"/>
            <a:ext cx="186537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10B981"/>
                </a:solidFill>
              </a:rPr>
              <a:t>~10.5%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2926080"/>
            <a:ext cx="228600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57031" y="2971800"/>
            <a:ext cx="21396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~55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607040" y="2926080"/>
            <a:ext cx="1463040" cy="475488"/>
          </a:xfrm>
          <a:prstGeom prst="rect">
            <a:avLst/>
          </a:prstGeom>
          <a:solidFill>
            <a:srgbClr val="111827"/>
          </a:solidFill>
          <a:ln w="1905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80192" y="2971800"/>
            <a:ext cx="131673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~72%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3520440"/>
            <a:ext cx="11338560" cy="3017520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F59E0B"/>
                </a:solidFill>
              </a:rPr>
              <a:t>Pareto Analysis — CO₂ Reduction vs Task Delay (Varying Deadline Flexibility)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4360" y="4069080"/>
            <a:ext cx="1371600" cy="329184"/>
          </a:xfrm>
          <a:prstGeom prst="rect">
            <a:avLst/>
          </a:prstGeom>
          <a:solidFill>
            <a:srgbClr val="F59E0B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41148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Flexibility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57400" y="4069080"/>
            <a:ext cx="1828800" cy="329184"/>
          </a:xfrm>
          <a:prstGeom prst="rect">
            <a:avLst/>
          </a:prstGeom>
          <a:solidFill>
            <a:srgbClr val="F59E0B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121408" y="41148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CO₂ Reduction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77639" y="4069080"/>
            <a:ext cx="1645920" cy="329184"/>
          </a:xfrm>
          <a:prstGeom prst="rect">
            <a:avLst/>
          </a:prstGeom>
          <a:solidFill>
            <a:srgbClr val="F59E0B"/>
          </a:solidFill>
          <a:ln w="2540"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41648" y="41148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000" i="0">
                <a:solidFill>
                  <a:srgbClr val="FFFFFF"/>
                </a:solidFill>
              </a:rPr>
              <a:t>Avg Delay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4480560"/>
            <a:ext cx="13716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49884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1 hr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57400" y="4480560"/>
            <a:ext cx="18288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121408" y="449884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~2.8%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977639" y="4480560"/>
            <a:ext cx="164592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41648" y="44988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~8 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4809744"/>
            <a:ext cx="13716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482803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2 hr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057400" y="4809744"/>
            <a:ext cx="18288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21408" y="482803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~4.1%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77639" y="4809744"/>
            <a:ext cx="164592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41648" y="482803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~15 min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94360" y="5138928"/>
            <a:ext cx="13716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157216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4 hr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057400" y="5138928"/>
            <a:ext cx="18288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121408" y="5157216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~5.5%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977639" y="5138928"/>
            <a:ext cx="164592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041648" y="5157216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~28 min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94360" y="5468112"/>
            <a:ext cx="13716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5486400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6 hr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057400" y="5468112"/>
            <a:ext cx="18288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121408" y="5486400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~6.8%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77639" y="5468112"/>
            <a:ext cx="164592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41648" y="548640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~40 min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5797296"/>
            <a:ext cx="13716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58368" y="5815583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8 hr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57400" y="5797296"/>
            <a:ext cx="18288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21408" y="5815583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~7.9%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977639" y="5797296"/>
            <a:ext cx="164592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041648" y="5815583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~52 min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94360" y="6126480"/>
            <a:ext cx="13716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58368" y="6144768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10 hr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057400" y="6126480"/>
            <a:ext cx="182880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121408" y="6144768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~8.6%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977639" y="6126480"/>
            <a:ext cx="1645920" cy="310896"/>
          </a:xfrm>
          <a:prstGeom prst="rect">
            <a:avLst/>
          </a:prstGeom>
          <a:solidFill>
            <a:srgbClr val="141F32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041648" y="614476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~63 min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94360" y="6455664"/>
            <a:ext cx="13716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58368" y="6473952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12 hr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6455664"/>
            <a:ext cx="182880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121408" y="6473952"/>
            <a:ext cx="1691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~9.0%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977639" y="6455664"/>
            <a:ext cx="1645920" cy="310896"/>
          </a:xfrm>
          <a:prstGeom prst="rect">
            <a:avLst/>
          </a:prstGeom>
          <a:solidFill>
            <a:srgbClr val="111827"/>
          </a:solidFill>
          <a:ln w="127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041648" y="6473952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F1F5F9"/>
                </a:solidFill>
              </a:rPr>
              <a:t>~72 min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943600" y="4069080"/>
            <a:ext cx="5715000" cy="2423160"/>
          </a:xfrm>
          <a:prstGeom prst="rect">
            <a:avLst/>
          </a:prstGeom>
          <a:solidFill>
            <a:srgbClr val="0D1A2E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26480" y="416052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Key Pareto Insights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126480" y="4572000"/>
            <a:ext cx="5349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Even 1-hour flexibility achieves ~2.8% CO₂ reduction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4 hours flexibility captures ~60% of maximum savings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Diminishing returns beyond 8 hours (solar cycle fully exploited)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Savings achieved with zero impact on online services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20% of workload shifted → 5–10% cluster-level CO₂ reduction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▸ Risk-aware strategy prevents SLA violations via conformal PI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Streamlit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12-page interactive visualization suite — CarbonDC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493776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3B82F6"/>
                </a:solidFill>
              </a:rPr>
              <a:t>BDA Section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01 · ETL Overview — 95M row stats, data quality, machine selection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02 · Cluster Explorer — per-machine CPU/memory/network timelines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03 · Carbon Intelligence — diurnal CI signal + grid mix breakdown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04 · Wide Matrix — pivot table heatmaps, feature correlations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493776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10B981"/>
                </a:solidFill>
              </a:rPr>
              <a:t>TSA Section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9202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05 · Stationarity — ADF test results, raw vs differenced plots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06 · Decomposition — interactive STL trend/seasonal/residual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07 · Autocorrelation — ACF/PACF plots with lag 288 annotations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08 · Distribution — kurtosis analysis, heavy-tail visualization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371600"/>
            <a:ext cx="3657600" cy="493776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4630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400" i="0">
                <a:solidFill>
                  <a:srgbClr val="8B5CF6"/>
                </a:solidFill>
              </a:rPr>
              <a:t>Applied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09 · Forecast Arena — SARIMAX / XGBoost / LSTM side-by-side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10 · Conformal Bands — 90/95/99% PI overlays, coverage analysis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11 · Scheduler Lab — 3-strategy comparison + Pareto front explorer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F1F5F9"/>
                </a:solidFill>
              </a:rPr>
              <a:t>12 · Impact Hub — CO₂ savings KPIs, power model, annual projections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419088"/>
            <a:ext cx="11338560" cy="365760"/>
          </a:xfrm>
          <a:prstGeom prst="rect">
            <a:avLst/>
          </a:prstGeom>
          <a:solidFill>
            <a:srgbClr val="111827"/>
          </a:solidFill>
          <a:ln w="381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 i="0">
                <a:solidFill>
                  <a:srgbClr val="F59E0B"/>
                </a:solidFill>
              </a:rPr>
              <a:t>Tech Stack:  Streamlit · Plotly · Dark glassmorphism UI · Premium animated KPI cards · Full mobile-responsive layout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Full Pipeline — Technical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End-to-end system: 6 notebooks, 12 output files, 15+ figures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NB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Spark ETL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PySpark 3.4+, PyArrow, Pandas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Strict schema on 95M rows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Temporal bucketing (5-min)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Machine selection + Parquet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clean_parquet/subset/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63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10B981"/>
                </a:solidFill>
              </a:rPr>
              <a:t>NB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TS Reconstruction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Wide pivot (Long→Wide)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Forward-fill imputation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Synthetic CI signal (AR-1)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Min-Max scaling [0,1]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timeseries_ready.csv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137160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4630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59E0B"/>
                </a:solidFill>
              </a:rPr>
              <a:t>NB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4630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TSA Diagnostics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182880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Statsmodels ADF test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STL (period=288)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ACF/PACF (576 lags)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SciPy kurtosis analysis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diagnostics_summary.json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06908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069080"/>
            <a:ext cx="36576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60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8B5CF6"/>
                </a:solidFill>
              </a:rPr>
              <a:t>NB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Forecasting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45262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SARIMAX(2,1,1)(1,1,1,24)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XGBoost + Random Forest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LSTM (2-layer, early stop)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RMSE/MAE/MAPE comparison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forecast_results.csv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80" y="406908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4069080"/>
            <a:ext cx="3657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4160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EF4444"/>
                </a:solidFill>
              </a:rPr>
              <a:t>NB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Carbon Scheduling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45262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3 scheduling strategies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200 batch jobs simulation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Pareto front (7 flex levels)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CO₂ savings quantification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scheduling_results.csv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4069080"/>
            <a:ext cx="3657600" cy="2542032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406908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75320" y="4160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NB 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4160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FFFFF"/>
                </a:solidFill>
              </a:rPr>
              <a:t>Conformal Prediction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75320" y="4526280"/>
            <a:ext cx="33832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Split conformal (α=0.1/0.05/0.01)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MAPIE CrossConformalRegressor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Hourly coverage analysis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95% PI → scheduler input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1F5F9"/>
                </a:solidFill>
              </a:rPr>
              <a:t>▸ → conformal_intervals.csv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Key Results &amp; Quantitative Findings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Summary of all measurable outcomes across the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697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447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95 Million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Raw rows processed by Spark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371600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371600"/>
            <a:ext cx="2697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4447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12×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920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Aggregation compression ratio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371600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371600"/>
            <a:ext cx="2697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14447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288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1920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STL seasonal period (24h in 5min)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53144" y="1371600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53144" y="1371600"/>
            <a:ext cx="2697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444752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0.75+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0304" y="1920240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CPU seasonal strength (Fs)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578608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2578608"/>
            <a:ext cx="2697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0.97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1272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ACF at lag 1 (5 mins)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2578608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55848" y="2578608"/>
            <a:ext cx="2697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93008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~1.5–2.0%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93008" y="31272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XGBoost test RMSE (CPU %)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54496" y="2578608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54496" y="2578608"/>
            <a:ext cx="2697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91656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~4–6%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6" y="31272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XGBoost MAPE on test set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53144" y="2578608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53144" y="2578608"/>
            <a:ext cx="269748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90304" y="265176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95.6%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90304" y="3127248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Conformal PI empirical 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85616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785616"/>
            <a:ext cx="269748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3858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~5.1%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433425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Avg conformal interval width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355848" y="3785616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55848" y="3785616"/>
            <a:ext cx="2697480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93008" y="3858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~5.2%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433425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CO₂ reduction — Naive strategy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3785616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54496" y="3785616"/>
            <a:ext cx="269748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91656" y="3858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~10.5%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91656" y="433425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CO₂ reduction — Risk strategy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53144" y="3785616"/>
            <a:ext cx="2697480" cy="1024128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3144" y="3785616"/>
            <a:ext cx="269748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0304" y="3858768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200" i="0">
                <a:solidFill>
                  <a:srgbClr val="FFFFFF"/>
                </a:solidFill>
              </a:rPr>
              <a:t>~60%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0304" y="4334256"/>
            <a:ext cx="2423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00" i="0">
                <a:solidFill>
                  <a:srgbClr val="94A3B8"/>
                </a:solidFill>
              </a:rPr>
              <a:t>Max savings at 4hr flexibility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Research Contributions &amp;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What makes this project novel beyond standard BDA/TSA coursework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577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E2E Big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74519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First-principles pipeline from 95M-row raw CSV → carbon-optimized schedule. No pre-processed datasets — full Apache Spark ETL with schema enforcement, sensor scrubbing, temporal bucketing, and Parquet export.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557784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10B981"/>
                </a:solidFill>
              </a:rPr>
              <a:t>Rigorous TSA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Full statistical diagnostic suite: ADF stationarity, STL seasonal decomposition (period=288), ACF/PACF analysis, and kurtosis testing — each directly informing model architecture choices.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90672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090672"/>
            <a:ext cx="557784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F59E0B"/>
                </a:solidFill>
              </a:rPr>
              <a:t>Multi-Paradigm Forecasting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5935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Fair head-to-head comparison: SARIMAX (linear/statistical) vs XGBoost+RF (ensemble ML) vs LSTM (deep learning) — all on the same dataset, same split, same metrics.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090672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3090672"/>
            <a:ext cx="557784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318211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8B5CF6"/>
                </a:solidFill>
              </a:rPr>
              <a:t>Conformal Prediction (Novel UQ)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93591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Distribution-free prediction intervals with guaranteed coverage. Addresses the primary limitation of existing deterministic carbon-aware schedulers. Dual implementation: manual Split Conformal + production-grade MAPIE CrossConformalRegressor.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9744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809744"/>
            <a:ext cx="557784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49011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EF4444"/>
                </a:solidFill>
              </a:rPr>
              <a:t>Risk-Aware Scheduling Algorithm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53126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Three-way scheduling comparison (FIFO vs Naive vs Risk-Aware). The Risk-Aware strategy integrates conformal upper bounds into capacity checking — preventing SLA violations caused by forecast errors while maximising CO₂ reduction.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09744"/>
            <a:ext cx="5577840" cy="1600200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809744"/>
            <a:ext cx="557784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9011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300" i="0">
                <a:solidFill>
                  <a:srgbClr val="3B82F6"/>
                </a:solidFill>
              </a:rPr>
              <a:t>Pareto Front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46520" y="53126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Rigorous trade-off quantification across 7 deadline flexibility levels (1h–12h). Shows that 4-hour flexibility captures ~60% of maximum savings — actionable policy result.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Honest assessment of current constraints and planned extensions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66928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66928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EF4444"/>
                </a:solidFill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Synthetic CI signal: Real CAISO/Electricity Maps API data would improve fidelity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10 machines selected: Full 4,000+ machine analysis limited by local compute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SARIMAX on hourly data: s=288 version computationally infeasible on laptop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Batch job simulation: Synthetic load; real production job traces preferred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Static power model: P_idle/P_max vary by server generation and 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No multi-datacenter optimization: Single-region analysis only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Conformal PI is symmetric: Quantile regression intervals would be adaptive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LSTM training limited to 8 days: Longer traces needed for seasonal modeling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371600"/>
            <a:ext cx="5394960" cy="512064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371600"/>
            <a:ext cx="53949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500" i="0">
                <a:solidFill>
                  <a:srgbClr val="10B981"/>
                </a:solidFill>
              </a:rPr>
              <a:t>Future Research Directions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Live CI ingestion: Integrate Electricity Maps / WattTime API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Multi-region: Cross-datacenter workload migration for geo-shifting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Reinforcement Learning: Train RL scheduler on Pareto-MDP objective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Conformal Quantile Regression: Adaptive interval widths by hour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Graph Neural Networks: Model inter-machine dependency patterns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Hardware-in-loop: Deploy scheduler on OpenStack testbed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Renewable energy contracts: Incorporate PPA (Power Purchase Agreements)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1F5F9"/>
                </a:solidFill>
              </a:rPr>
              <a:t>▸ Scope 3 emissions: Include embodied carbon in hardware lifecycle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800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95528"/>
            <a:ext cx="548640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886968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 i="0">
                <a:solidFill>
                  <a:srgbClr val="94A3B8"/>
                </a:solidFill>
              </a:rPr>
              <a:t>Summary of findings and practical implications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1338560" cy="914400"/>
          </a:xfrm>
          <a:prstGeom prst="rect">
            <a:avLst/>
          </a:prstGeom>
          <a:solidFill>
            <a:srgbClr val="0D1A2E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 i="0">
                <a:solidFill>
                  <a:srgbClr val="F1F5F9"/>
                </a:solidFill>
              </a:rPr>
              <a:t>This project demonstrates that intelligent temporal scheduling of delay-tolerant batch workloads — guided by carbon intensity forecasts and conformal prediction intervals — can reduce data center CO₂ emissions by 5–10% without hardware modifications or SLA degradation.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3657600" cy="1874519"/>
          </a:xfrm>
          <a:prstGeom prst="rect">
            <a:avLst/>
          </a:prstGeom>
          <a:solidFill>
            <a:srgbClr val="111827"/>
          </a:solidFill>
          <a:ln w="63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423160"/>
            <a:ext cx="365760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3B82F6"/>
                </a:solidFill>
              </a:rPr>
              <a:t>Big Data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26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Apache Spark successfully processes 95M-row, 3.4 GB telemetry. Temporal bucketing and aggregation achieve 12× compression. Parquet output with schema preservation enables efficient downstream analytics.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423160"/>
            <a:ext cx="3657600" cy="1874519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423160"/>
            <a:ext cx="365760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10B981"/>
                </a:solidFill>
              </a:rPr>
              <a:t>TSA Diagnostics Validate Model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926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ADF confirms stationarity, STL reveals strong 24h seasonality (Fs&gt;0.75), ACF at lag 288 proves diurnal 'memory'. These diagnostics directly informed SARIMAX seasonal order, LSTM sequence length, and XGBoost lag feature selection.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2423160"/>
            <a:ext cx="3657600" cy="1874519"/>
          </a:xfrm>
          <a:prstGeom prst="rect">
            <a:avLst/>
          </a:prstGeom>
          <a:solidFill>
            <a:srgbClr val="111827"/>
          </a:solidFill>
          <a:ln w="63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38160" y="2423160"/>
            <a:ext cx="365760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251460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F59E0B"/>
                </a:solidFill>
              </a:rPr>
              <a:t>Ensemble ML Outperforms Linear TSA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926080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XGBoost and LSTM achieve ~4–6% MAPE vs SARIMAX's ~8–12%. High kurtosis in individual machine traces confirms the need for non-linear models that capture micro-burst events and phase transitions.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3657600" cy="1874519"/>
          </a:xfrm>
          <a:prstGeom prst="rect">
            <a:avLst/>
          </a:prstGeom>
          <a:solidFill>
            <a:srgbClr val="111827"/>
          </a:solidFill>
          <a:ln w="63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365760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52627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8B5CF6"/>
                </a:solidFill>
              </a:rPr>
              <a:t>Conformal Prediction Enables Risk-Aware Scheduling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4937759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Distribution-free 95% prediction intervals with guaranteed empirical coverage (95.6%) enable the risk-aware scheduler to prevent SLA violations while maximising CO₂ reduction.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97680" y="4434840"/>
            <a:ext cx="3657600" cy="1874519"/>
          </a:xfrm>
          <a:prstGeom prst="rect">
            <a:avLst/>
          </a:prstGeom>
          <a:solidFill>
            <a:srgbClr val="111827"/>
          </a:solidFill>
          <a:ln w="63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97680" y="4434840"/>
            <a:ext cx="365760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4526279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 i="0">
                <a:solidFill>
                  <a:srgbClr val="EF4444"/>
                </a:solidFill>
              </a:rPr>
              <a:t>Scheduler Achieves Meaningful CO₂ Reduction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937759"/>
            <a:ext cx="33832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 i="0">
                <a:solidFill>
                  <a:srgbClr val="F1F5F9"/>
                </a:solidFill>
              </a:rPr>
              <a:t>Naive strategy: ~5.2% reduction. Risk-aware strategy: ~10.5% reduction. Only 20% of workload is shifted; 4-hour flexibility captures 60% of maximum savings. Pareto front provides actionable SLA policy guidance.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07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5200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2200" i="0">
                <a:solidFill>
                  <a:srgbClr val="3B82F6"/>
                </a:solidFill>
              </a:rPr>
              <a:t>Questions &amp; Discussion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291840"/>
            <a:ext cx="576072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1737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3B82F6"/>
                </a:solidFill>
              </a:rPr>
              <a:t>95M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Processed by Spark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331720" y="3520440"/>
            <a:ext cx="17373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10B981"/>
                </a:solidFill>
              </a:rPr>
              <a:t>6 Notebooks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End-to-end Pipeline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3520440"/>
            <a:ext cx="1737360" cy="45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79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F59E0B"/>
                </a:solidFill>
              </a:rPr>
              <a:t>4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SARIMAX·XGB·RF·LSTM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59" y="3520440"/>
            <a:ext cx="1737360" cy="45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72199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8B5CF6"/>
                </a:solidFill>
              </a:rPr>
              <a:t>95% 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2199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Conformal Prediction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79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79" y="3520440"/>
            <a:ext cx="17373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19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EF4444"/>
                </a:solidFill>
              </a:rPr>
              <a:t>10.5%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19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CO₂ Reduction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29800" y="3520440"/>
            <a:ext cx="1737360" cy="1005840"/>
          </a:xfrm>
          <a:prstGeom prst="rect">
            <a:avLst/>
          </a:prstGeom>
          <a:solidFill>
            <a:srgbClr val="111827"/>
          </a:solidFill>
          <a:ln w="508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829800" y="3520440"/>
            <a:ext cx="17373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21240" y="3593592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 i="0">
                <a:solidFill>
                  <a:srgbClr val="3B82F6"/>
                </a:solidFill>
              </a:rPr>
              <a:t>12 Pages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402336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900" i="0">
                <a:solidFill>
                  <a:srgbClr val="94A3B8"/>
                </a:solidFill>
              </a:rPr>
              <a:t>Interactive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8463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 i="0">
                <a:solidFill>
                  <a:srgbClr val="94A3B8"/>
                </a:solidFill>
              </a:rPr>
              <a:t>Built with: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120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3B82F6"/>
                </a:solidFill>
              </a:rPr>
              <a:t>Apache Spark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74519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38527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8B5CF6"/>
                </a:solidFill>
              </a:rPr>
              <a:t>PyTorch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5584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10B981"/>
                </a:solidFill>
              </a:rPr>
              <a:t>XGBoost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0916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F59E0B"/>
                </a:solidFill>
              </a:rPr>
              <a:t>Statsmodels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9048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EF4444"/>
                </a:solidFill>
              </a:rPr>
              <a:t>MAPIE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4380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0780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3B82F6"/>
                </a:solidFill>
              </a:rPr>
              <a:t>Streamlit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512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10B981"/>
                </a:solidFill>
              </a:rPr>
              <a:t>Plotly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378440" y="5166360"/>
            <a:ext cx="1325880" cy="384048"/>
          </a:xfrm>
          <a:prstGeom prst="rect">
            <a:avLst/>
          </a:prstGeom>
          <a:solidFill>
            <a:srgbClr val="111827"/>
          </a:solidFill>
          <a:ln w="4445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442448" y="52212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900" i="0">
                <a:solidFill>
                  <a:srgbClr val="94A3B8"/>
                </a:solidFill>
              </a:rPr>
              <a:t>Python 3.14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100" i="0">
                <a:solidFill>
                  <a:srgbClr val="64748B"/>
                </a:solidFill>
              </a:rPr>
              <a:t>Dataset: Alibaba Cluster Trace v2018  ·  GitHub-style dashboard  ·  March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